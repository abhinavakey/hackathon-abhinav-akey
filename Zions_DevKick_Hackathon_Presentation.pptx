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D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94960" y="1280160"/>
            <a:ext cx="1371600" cy="1371600"/>
          </a:xfrm>
          <a:prstGeom prst="roundRect">
            <a:avLst>
              <a:gd name="adj" fmla="val 15000"/>
            </a:avLst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94960" y="137160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FFFFF"/>
                </a:solidFill>
                <a:latin typeface="Segoe UI"/>
              </a:defRPr>
            </a:pPr>
            <a:r>
              <a:t>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FFFFF"/>
                </a:solidFill>
                <a:latin typeface="Segoe UI"/>
              </a:defRPr>
            </a:pPr>
            <a:r>
              <a:t>Zions DevKick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49039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00A3DA"/>
                </a:solidFill>
                <a:latin typeface="Segoe UI"/>
              </a:defRPr>
            </a:pPr>
            <a:r>
              <a:t>The Centralized Developer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4480560"/>
            <a:ext cx="2103120" cy="27432"/>
          </a:xfrm>
          <a:prstGeom prst="rect">
            <a:avLst/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7091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A3B8"/>
                </a:solidFill>
                <a:latin typeface="Segoe UI"/>
              </a:defRPr>
            </a:pPr>
            <a:r>
              <a:t>Eliminating developer context-switching by unifying troubleshooting, code review,</a:t>
            </a:r>
            <a:br/>
            <a:r>
              <a:t>ticketing, and developer resources into a single browser side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6692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94A3B8"/>
                </a:solidFill>
                <a:latin typeface="Segoe UI"/>
              </a:defRPr>
            </a:pPr>
            <a:r>
              <a:t>ETO Innovation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98932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B"/>
                </a:solidFill>
                <a:latin typeface="Segoe UI"/>
              </a:defRPr>
            </a:pPr>
            <a:r>
              <a:t>Abhinav Akey  |  May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The Problem We Are Solving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Developers at Zions lose 2+ hours every day context-switching between disconnected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9748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974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160020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618488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30–60 min/incident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488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Troubleshooting Errors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Terraform GCP 403 errors lead to 30+ minutes of searching Confluence, Teams, and asking teammates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840480"/>
            <a:ext cx="2423160" cy="182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9319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DC2626"/>
                </a:solidFill>
                <a:latin typeface="Segoe UI"/>
              </a:defRPr>
            </a:pPr>
            <a:r>
              <a:t>Business Impact: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334055"/>
                </a:solidFill>
                <a:latin typeface="Segoe UI"/>
              </a:defRPr>
            </a:pPr>
            <a:r>
              <a:t>Blocked pipelines, idle developers, delayed deployments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1371600"/>
            <a:ext cx="269748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1371600"/>
            <a:ext cx="26974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13632" y="160020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13632" y="1618488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20–40 min/PR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21488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PR Code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256032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Context-switching to ADO, parsing massive YAML and Terraform diffs, writing meaningful security comments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56432" y="3840480"/>
            <a:ext cx="2423160" cy="182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56432" y="39319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D97706"/>
                </a:solidFill>
                <a:latin typeface="Segoe UI"/>
              </a:defRPr>
            </a:pPr>
            <a:r>
              <a:t>Business Impact: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432" y="42062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334055"/>
                </a:solidFill>
                <a:latin typeface="Segoe UI"/>
              </a:defRPr>
            </a:pPr>
            <a:r>
              <a:t>Slow review cycles, security issues missed, merge bottlenecks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1371600"/>
            <a:ext cx="269748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1371600"/>
            <a:ext cx="26974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75704" y="160020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75704" y="1618488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15–30 min/request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21488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ServiceNow Requests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256032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Stopping work to navigate ServiceNow portal just to request IAM access or file a bug report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18504" y="3840480"/>
            <a:ext cx="2423160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8504" y="39319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C3AED"/>
                </a:solidFill>
                <a:latin typeface="Segoe UI"/>
              </a:defRPr>
            </a:pPr>
            <a:r>
              <a:t>Business Impact: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8504" y="42062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334055"/>
                </a:solidFill>
                <a:latin typeface="Segoe UI"/>
              </a:defRPr>
            </a:pPr>
            <a:r>
              <a:t>Broken flow state, delayed access, frustration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43416" y="1371600"/>
            <a:ext cx="269748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43416" y="1371600"/>
            <a:ext cx="2697480" cy="54864"/>
          </a:xfrm>
          <a:prstGeom prst="rect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37776" y="160020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618488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Segoe UI"/>
              </a:defRPr>
            </a:pPr>
            <a:r>
              <a:t>5–10 min/search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0576" y="21488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Finding Resources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576" y="2560320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Digging through bookmarks and Confluence to find the right ADO template, runbook, or standard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0576" y="3840480"/>
            <a:ext cx="2423160" cy="18288"/>
          </a:xfrm>
          <a:prstGeom prst="rect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0576" y="39319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0057A8"/>
                </a:solidFill>
                <a:latin typeface="Segoe UI"/>
              </a:defRPr>
            </a:pPr>
            <a:r>
              <a:t>Business Impact: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0576" y="42062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334055"/>
                </a:solidFill>
                <a:latin typeface="Segoe UI"/>
              </a:defRPr>
            </a:pPr>
            <a:r>
              <a:t>Non-standard repos, missed checklists, inconsistency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486400"/>
            <a:ext cx="11247120" cy="1005840"/>
          </a:xfrm>
          <a:prstGeom prst="roundRect">
            <a:avLst>
              <a:gd name="adj" fmla="val 4000"/>
            </a:avLst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5321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A3DA"/>
                </a:solidFill>
                <a:latin typeface="Segoe UI"/>
              </a:defRPr>
            </a:pPr>
            <a:r>
              <a:t>Aggregate Impact: 2+ hours/day per developer lost to tool fragmentation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94A3B8"/>
                </a:solidFill>
                <a:latin typeface="Segoe UI"/>
              </a:defRPr>
            </a:pPr>
            <a:r>
              <a:t>For a team of 50 developers: 25,000+ engineering hours wasted per year  |  Estimated productivity loss: $500K+ annually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Our Solution: Zions DevKick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A Chrome/Edge Side Panel extension — 4 tabs solving 4 bottlenecks, all without leaving the browser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2697480" cy="46177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Segoe UI"/>
              </a:defRPr>
            </a:pPr>
            <a:r>
              <a:t>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2E8F0"/>
                </a:solidFill>
                <a:latin typeface="Segoe UI"/>
              </a:defRPr>
            </a:pPr>
            <a:r>
              <a:t>AI-Powered</a:t>
            </a:r>
            <a:br/>
            <a:r>
              <a:t>Troubleshooting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243230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RAG-powered chatbot backed by Zions internal knowledge base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30098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Instant answers to GCP IAM errors, ADO pipeline failures, internal processes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16966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1480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ChromaDB vector store with semantic search across 5 curated docs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503834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834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One-click "Escalate to Goalie" from any chat message with auto-filled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9272" y="1325880"/>
            <a:ext cx="2697480" cy="46177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19272" y="132588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9272" y="13716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Segoe UI"/>
              </a:defRPr>
            </a:pPr>
            <a: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9272" y="169164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2E8F0"/>
                </a:solidFill>
                <a:latin typeface="Segoe UI"/>
              </a:defRPr>
            </a:pPr>
            <a:r>
              <a:t>Automated PR</a:t>
            </a:r>
            <a:br/>
            <a:r>
              <a:t>Code Review</a:t>
            </a:r>
          </a:p>
        </p:txBody>
      </p:sp>
      <p:sp>
        <p:nvSpPr>
          <p:cNvPr id="23" name="Oval 22"/>
          <p:cNvSpPr/>
          <p:nvPr/>
        </p:nvSpPr>
        <p:spPr>
          <a:xfrm>
            <a:off x="3456432" y="243230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9312" y="237744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One-click "Analyze Current PR" detects ADO/GitHub PR pages automatically</a:t>
            </a:r>
          </a:p>
        </p:txBody>
      </p:sp>
      <p:sp>
        <p:nvSpPr>
          <p:cNvPr id="25" name="Oval 24"/>
          <p:cNvSpPr/>
          <p:nvPr/>
        </p:nvSpPr>
        <p:spPr>
          <a:xfrm>
            <a:off x="3456432" y="330098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24612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AI reviews against Zions security standards (IAM, network, encryption, secrets)</a:t>
            </a:r>
          </a:p>
        </p:txBody>
      </p:sp>
      <p:sp>
        <p:nvSpPr>
          <p:cNvPr id="27" name="Oval 26"/>
          <p:cNvSpPr/>
          <p:nvPr/>
        </p:nvSpPr>
        <p:spPr>
          <a:xfrm>
            <a:off x="3456432" y="416966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9312" y="411480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Structured output: quality score, issues by severity, specific fix recommendations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3456432" y="503834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49834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Copy full review to clipboard for pasting directly into PR comments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344" y="1325880"/>
            <a:ext cx="2697480" cy="46177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81344" y="132588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13716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Segoe UI"/>
              </a:defRPr>
            </a:pPr>
            <a:r>
              <a:t>Tickets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169164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2E8F0"/>
                </a:solidFill>
                <a:latin typeface="Segoe UI"/>
              </a:defRPr>
            </a:pPr>
            <a:r>
              <a:t>ServiceNow</a:t>
            </a:r>
            <a:br/>
            <a:r>
              <a:t>Integration</a:t>
            </a:r>
          </a:p>
        </p:txBody>
      </p:sp>
      <p:sp>
        <p:nvSpPr>
          <p:cNvPr id="35" name="Oval 34"/>
          <p:cNvSpPr/>
          <p:nvPr/>
        </p:nvSpPr>
        <p:spPr>
          <a:xfrm>
            <a:off x="6318504" y="2432304"/>
            <a:ext cx="91440" cy="9144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01384" y="237744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Create ServiceNow tickets without leaving the browser — 6 request types</a:t>
            </a:r>
          </a:p>
        </p:txBody>
      </p:sp>
      <p:sp>
        <p:nvSpPr>
          <p:cNvPr id="37" name="Oval 36"/>
          <p:cNvSpPr/>
          <p:nvPr/>
        </p:nvSpPr>
        <p:spPr>
          <a:xfrm>
            <a:off x="6318504" y="3300984"/>
            <a:ext cx="91440" cy="9144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1384" y="324612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Goalie Escalation type routes to Goalie Review Queue with SLA tracking</a:t>
            </a:r>
          </a:p>
        </p:txBody>
      </p:sp>
      <p:sp>
        <p:nvSpPr>
          <p:cNvPr id="39" name="Oval 38"/>
          <p:cNvSpPr/>
          <p:nvPr/>
        </p:nvSpPr>
        <p:spPr>
          <a:xfrm>
            <a:off x="6318504" y="4169664"/>
            <a:ext cx="91440" cy="9144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11480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Goalie Queue Dashboard: view active escalations, status, priority, assignee</a:t>
            </a:r>
          </a:p>
        </p:txBody>
      </p:sp>
      <p:sp>
        <p:nvSpPr>
          <p:cNvPr id="41" name="Oval 40"/>
          <p:cNvSpPr/>
          <p:nvPr/>
        </p:nvSpPr>
        <p:spPr>
          <a:xfrm>
            <a:off x="6318504" y="5038344"/>
            <a:ext cx="91440" cy="9144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1384" y="49834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Escalation from Chat auto-fills ticket with full conversation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43416" y="1325880"/>
            <a:ext cx="2697480" cy="46177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43416" y="1325880"/>
            <a:ext cx="2697480" cy="868680"/>
          </a:xfrm>
          <a:prstGeom prst="roundRect">
            <a:avLst>
              <a:gd name="adj" fmla="val 4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43416" y="13716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Segoe UI"/>
              </a:defRPr>
            </a:pPr>
            <a:r>
              <a:t>Actions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416" y="169164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2E8F0"/>
                </a:solidFill>
                <a:latin typeface="Segoe UI"/>
              </a:defRPr>
            </a:pPr>
            <a:r>
              <a:t>Developer</a:t>
            </a:r>
            <a:br/>
            <a:r>
              <a:t>Command Center</a:t>
            </a:r>
          </a:p>
        </p:txBody>
      </p:sp>
      <p:sp>
        <p:nvSpPr>
          <p:cNvPr id="47" name="Oval 46"/>
          <p:cNvSpPr/>
          <p:nvPr/>
        </p:nvSpPr>
        <p:spPr>
          <a:xfrm>
            <a:off x="9180576" y="2432304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3456" y="237744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Quick links to 12 essential tools: ADO, GCP Console, Confluence, ServiceNow, etc.</a:t>
            </a:r>
          </a:p>
        </p:txBody>
      </p:sp>
      <p:sp>
        <p:nvSpPr>
          <p:cNvPr id="49" name="Oval 48"/>
          <p:cNvSpPr/>
          <p:nvPr/>
        </p:nvSpPr>
        <p:spPr>
          <a:xfrm>
            <a:off x="9180576" y="3300984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324612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Sprint reminders, code freeze alerts, and training deadline notifications</a:t>
            </a:r>
          </a:p>
        </p:txBody>
      </p:sp>
      <p:sp>
        <p:nvSpPr>
          <p:cNvPr id="51" name="Oval 50"/>
          <p:cNvSpPr/>
          <p:nvPr/>
        </p:nvSpPr>
        <p:spPr>
          <a:xfrm>
            <a:off x="9180576" y="4169664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411480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6 expandable Developer Standards checklists (PR, Terraform, Security, Pipeline, etc.)</a:t>
            </a:r>
          </a:p>
        </p:txBody>
      </p:sp>
      <p:sp>
        <p:nvSpPr>
          <p:cNvPr id="53" name="Oval 52"/>
          <p:cNvSpPr/>
          <p:nvPr/>
        </p:nvSpPr>
        <p:spPr>
          <a:xfrm>
            <a:off x="9180576" y="5038344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63456" y="4983480"/>
            <a:ext cx="2240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Repo Bootstrap: scaffold new repos from approved Zions templates instantly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59669"/>
                </a:solidFill>
                <a:latin typeface="Segoe UI"/>
              </a:defRPr>
            </a:pPr>
            <a:r>
              <a:t>This is a fully functional, live prototype built and deployed during the hackathon — not mockups or wireframes.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Architecture &amp; 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Enterprise-grade architecture designed for scalability, maintainability, and incremental production readiness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03520" cy="3291840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03520" cy="54864"/>
          </a:xfrm>
          <a:prstGeom prst="rect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57A8"/>
                </a:solidFill>
                <a:latin typeface="Segoe UI"/>
              </a:defRPr>
            </a:pPr>
            <a:r>
              <a:t>Frontend: Chrome/Edge Side Panel Extension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20824"/>
            <a:ext cx="73152" cy="7315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React 18 +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65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Type-safe component architecture with hooks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73152" cy="7315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500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Tailwind CSS 3.4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50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Utility-first styling, responsive side panel design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2788920"/>
            <a:ext cx="73152" cy="7315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340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Vite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73405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Fast builds (&lt;3s), hot module replacement for dev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172968"/>
            <a:ext cx="73152" cy="7315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1181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Chrome Manifest V3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1181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Latest extension standard, side panel API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557016"/>
            <a:ext cx="73152" cy="7315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02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Lucide React Icons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5021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Consistent, lightweight icon system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" y="3941064"/>
            <a:ext cx="73152" cy="7315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ReactMarkdown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886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Rich rendering of AI chat responses</a:t>
            </a:r>
          </a:p>
        </p:txBody>
      </p:sp>
      <p:sp>
        <p:nvSpPr>
          <p:cNvPr id="28" name="Oval 27"/>
          <p:cNvSpPr/>
          <p:nvPr/>
        </p:nvSpPr>
        <p:spPr>
          <a:xfrm>
            <a:off x="731520" y="4325112"/>
            <a:ext cx="73152" cy="7315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702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LocalStorage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2702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Chat history persistence and export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897880" y="2743200"/>
            <a:ext cx="502920" cy="365760"/>
          </a:xfrm>
          <a:prstGeom prst="rightArrow">
            <a:avLst/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92240" y="1371600"/>
            <a:ext cx="5303520" cy="3291840"/>
          </a:xfrm>
          <a:prstGeom prst="roundRect">
            <a:avLst>
              <a:gd name="adj" fmla="val 3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92240" y="1371600"/>
            <a:ext cx="530352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6534"/>
                </a:solidFill>
                <a:latin typeface="Segoe UI"/>
              </a:defRPr>
            </a:pPr>
            <a:r>
              <a:t>Backend: FastAPI + RAG Pipeline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2020824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Python FastAPI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19659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Async REST API with auto-generated Swagger docs</a:t>
            </a:r>
          </a:p>
        </p:txBody>
      </p:sp>
      <p:sp>
        <p:nvSpPr>
          <p:cNvPr id="38" name="Oval 37"/>
          <p:cNvSpPr/>
          <p:nvPr/>
        </p:nvSpPr>
        <p:spPr>
          <a:xfrm>
            <a:off x="6766560" y="2404872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23500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LangChain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235000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Document loading, chunking, retrieval chains</a:t>
            </a:r>
          </a:p>
        </p:txBody>
      </p:sp>
      <p:sp>
        <p:nvSpPr>
          <p:cNvPr id="41" name="Oval 40"/>
          <p:cNvSpPr/>
          <p:nvPr/>
        </p:nvSpPr>
        <p:spPr>
          <a:xfrm>
            <a:off x="6766560" y="2788920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27340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ChromaDB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27340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Embedded vector store for semantic search</a:t>
            </a:r>
          </a:p>
        </p:txBody>
      </p:sp>
      <p:sp>
        <p:nvSpPr>
          <p:cNvPr id="44" name="Oval 43"/>
          <p:cNvSpPr/>
          <p:nvPr/>
        </p:nvSpPr>
        <p:spPr>
          <a:xfrm>
            <a:off x="6766560" y="3172968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31181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Google Gemini 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311810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Cost-effective LLM for chat and code review</a:t>
            </a:r>
          </a:p>
        </p:txBody>
      </p:sp>
      <p:sp>
        <p:nvSpPr>
          <p:cNvPr id="47" name="Oval 46"/>
          <p:cNvSpPr/>
          <p:nvPr/>
        </p:nvSpPr>
        <p:spPr>
          <a:xfrm>
            <a:off x="6766560" y="3557016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0" y="3502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text-embedding-3-small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3502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Efficient embeddings for document vectors</a:t>
            </a:r>
          </a:p>
        </p:txBody>
      </p:sp>
      <p:sp>
        <p:nvSpPr>
          <p:cNvPr id="50" name="Oval 49"/>
          <p:cNvSpPr/>
          <p:nvPr/>
        </p:nvSpPr>
        <p:spPr>
          <a:xfrm>
            <a:off x="6766560" y="3941064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Confluence Connector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38862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Ready for live API integration (REST)</a:t>
            </a:r>
          </a:p>
        </p:txBody>
      </p:sp>
      <p:sp>
        <p:nvSpPr>
          <p:cNvPr id="53" name="Oval 52"/>
          <p:cNvSpPr/>
          <p:nvPr/>
        </p:nvSpPr>
        <p:spPr>
          <a:xfrm>
            <a:off x="6766560" y="4325112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9440" y="42702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5 Knowledge Base Docs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427024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GCP IAM, Terraform, ADO, ServiceNow, Security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4846320"/>
            <a:ext cx="11338560" cy="164592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4937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2D5F"/>
                </a:solidFill>
                <a:latin typeface="Segoe UI"/>
              </a:defRPr>
            </a:pPr>
            <a:r>
              <a:t>Key Architectural Decisions</a:t>
            </a:r>
          </a:p>
        </p:txBody>
      </p:sp>
      <p:sp>
        <p:nvSpPr>
          <p:cNvPr id="58" name="Oval 57"/>
          <p:cNvSpPr/>
          <p:nvPr/>
        </p:nvSpPr>
        <p:spPr>
          <a:xfrm>
            <a:off x="731520" y="5303520"/>
            <a:ext cx="64008" cy="64008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52578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Modular tab architecture: each feature is an independent React component — easy to extend, test, and maintain</a:t>
            </a:r>
          </a:p>
        </p:txBody>
      </p:sp>
      <p:sp>
        <p:nvSpPr>
          <p:cNvPr id="60" name="Oval 59"/>
          <p:cNvSpPr/>
          <p:nvPr/>
        </p:nvSpPr>
        <p:spPr>
          <a:xfrm>
            <a:off x="731520" y="5596128"/>
            <a:ext cx="64008" cy="64008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55040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RAG over fine-tuning: semantic search against curated docs ensures answers are grounded in real Zions documentation</a:t>
            </a:r>
          </a:p>
        </p:txBody>
      </p:sp>
      <p:sp>
        <p:nvSpPr>
          <p:cNvPr id="62" name="Oval 61"/>
          <p:cNvSpPr/>
          <p:nvPr/>
        </p:nvSpPr>
        <p:spPr>
          <a:xfrm>
            <a:off x="731520" y="5888736"/>
            <a:ext cx="64008" cy="64008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843016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Mock-first design: every external integration (ServiceNow, ADO, Confluence) has a mock fallback, enabling offline demos and incremental live integration</a:t>
            </a:r>
          </a:p>
        </p:txBody>
      </p:sp>
      <p:sp>
        <p:nvSpPr>
          <p:cNvPr id="64" name="Oval 63"/>
          <p:cNvSpPr/>
          <p:nvPr/>
        </p:nvSpPr>
        <p:spPr>
          <a:xfrm>
            <a:off x="731520" y="6181344"/>
            <a:ext cx="64008" cy="64008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6135624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Side panel form factor: zero context-switching — the assistant lives beside the developer's existing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Live Demo: A Developer's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From error to resolution in under 2 minutes — without leaving the browser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10312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" y="155448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5727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F172A"/>
                </a:solidFill>
                <a:latin typeface="Segoe UI"/>
              </a:defRPr>
            </a:pPr>
            <a:r>
              <a:t>The Error</a:t>
            </a:r>
            <a:br/>
            <a:r>
              <a:t>Strikes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920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Terraform deploy fails with GCP 403 Forbidden.</a:t>
            </a:r>
            <a:br/>
            <a:br/>
            <a:r>
              <a:t>Normally: 30+ minutes hunting through Confluence and Teams.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5488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54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Segoe UI"/>
              </a:defRPr>
            </a:pPr>
            <a:r>
              <a:t>Before DevKick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478024" y="3017520"/>
            <a:ext cx="118872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1371600"/>
            <a:ext cx="210312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83280" y="1554480"/>
            <a:ext cx="548640" cy="5486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15727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2402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F172A"/>
                </a:solidFill>
                <a:latin typeface="Segoe UI"/>
              </a:defRPr>
            </a:pPr>
            <a:r>
              <a:t>Ask DevKick</a:t>
            </a:r>
            <a:br/>
            <a: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788920"/>
            <a:ext cx="1920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Open side panel → Chat tab. Ask the chatbot.</a:t>
            </a:r>
            <a:br/>
            <a:br/>
            <a:r>
              <a:t>RAG retrieves the exact IAM role and resolution steps.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75488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4754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Segoe UI"/>
              </a:defRPr>
            </a:pPr>
            <a:r>
              <a:t>Chat Tab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718304" y="3017520"/>
            <a:ext cx="118872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46320" y="1371600"/>
            <a:ext cx="210312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23560" y="155448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60" y="15727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2402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F172A"/>
                </a:solidFill>
                <a:latin typeface="Segoe UI"/>
              </a:defRPr>
            </a:pPr>
            <a:r>
              <a:t>Create a</a:t>
            </a:r>
            <a:br/>
            <a:r>
              <a:t>ServiceNow Ticket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2788920"/>
            <a:ext cx="1920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Need IAM access? Click Tickets tab.</a:t>
            </a:r>
            <a:br/>
            <a:br/>
            <a:r>
              <a:t>Fill out the form, get RITM number — never leave your browser.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60" y="475488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754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Segoe UI"/>
              </a:defRPr>
            </a:pPr>
            <a:r>
              <a:t>Tickets Tab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958584" y="3017520"/>
            <a:ext cx="118872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86600" y="1371600"/>
            <a:ext cx="210312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63840" y="155448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15727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22402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F172A"/>
                </a:solidFill>
                <a:latin typeface="Segoe UI"/>
              </a:defRPr>
            </a:pPr>
            <a:r>
              <a:t>Escalate to</a:t>
            </a:r>
            <a:br/>
            <a:r>
              <a:t>Goalie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788920"/>
            <a:ext cx="1920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Pipeline still blocked? Hover any message, click "Escalate to Goalie."</a:t>
            </a:r>
            <a:br/>
            <a:br/>
            <a:r>
              <a:t>Auto-creates ticket with conversation context.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06640" y="475488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4754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Segoe UI"/>
              </a:defRPr>
            </a:pPr>
            <a:r>
              <a:t>Chat → Tickets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198864" y="3017520"/>
            <a:ext cx="118872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326880" y="1371600"/>
            <a:ext cx="2103120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04120" y="1554480"/>
            <a:ext cx="548640" cy="5486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04120" y="157276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22402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F172A"/>
                </a:solidFill>
                <a:latin typeface="Segoe UI"/>
              </a:defRPr>
            </a:pPr>
            <a:r>
              <a:t>Review a</a:t>
            </a:r>
            <a:br/>
            <a:r>
              <a:t>PR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2788920"/>
            <a:ext cx="1920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Teammate needs a review. One click — AI scans code against Zions security standards.</a:t>
            </a:r>
            <a:br/>
            <a:br/>
            <a:r>
              <a:t>Copy results to ADO.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46920" y="4754880"/>
            <a:ext cx="1463040" cy="274320"/>
          </a:xfrm>
          <a:prstGeom prst="roundRect">
            <a:avLst>
              <a:gd name="adj" fmla="val 1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46920" y="4754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Segoe UI"/>
              </a:defRPr>
            </a:pPr>
            <a:r>
              <a:t>Review Tab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5440680"/>
            <a:ext cx="11430000" cy="1097280"/>
          </a:xfrm>
          <a:prstGeom prst="roundRect">
            <a:avLst>
              <a:gd name="adj" fmla="val 4000"/>
            </a:avLst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4864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A3DA"/>
                </a:solidFill>
                <a:latin typeface="Segoe UI"/>
              </a:defRPr>
            </a:pPr>
            <a:r>
              <a:t>1-hour workflow → 2 minutes  |  5 tools → 1 side panel  |  Zero context-switching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94A3B8"/>
                </a:solidFill>
                <a:latin typeface="Segoe UI"/>
              </a:defRPr>
            </a:pPr>
            <a:r>
              <a:t>This is a live, working prototype — not a mockup. Every feature demonstrated is functional in Chrome/Edge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Business Value &amp; Return on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Realistic, measurable impact on developer productivity, risk reduction, and operational efficiency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6060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6A34A"/>
                </a:solidFill>
                <a:latin typeface="Segoe UI"/>
              </a:defRPr>
            </a:pPr>
            <a:r>
              <a:t>2+ hrs/day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F172A"/>
                </a:solidFill>
                <a:latin typeface="Segoe UI"/>
              </a:defRPr>
            </a:pPr>
            <a:r>
              <a:t>Developer Time</a:t>
            </a:r>
            <a:br/>
            <a:r>
              <a:t>Saved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64748B"/>
                </a:solidFill>
                <a:latin typeface="Segoe UI"/>
              </a:defRPr>
            </a:pPr>
            <a:r>
              <a:t>per developer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28016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280160"/>
            <a:ext cx="2606040" cy="54864"/>
          </a:xfrm>
          <a:prstGeom prst="rect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5087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0057A8"/>
                </a:solidFill>
                <a:latin typeface="Segoe UI"/>
              </a:defRPr>
            </a:pPr>
            <a:r>
              <a:t>$500K+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10312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F172A"/>
                </a:solidFill>
                <a:latin typeface="Segoe UI"/>
              </a:defRPr>
            </a:pPr>
            <a:r>
              <a:t>Annual</a:t>
            </a:r>
            <a:br/>
            <a:r>
              <a:t>Cost Savings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69748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64748B"/>
                </a:solidFill>
                <a:latin typeface="Segoe UI"/>
              </a:defRPr>
            </a:pPr>
            <a:r>
              <a:t>for 50-dev team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3017520"/>
            <a:ext cx="1874519" cy="320040"/>
          </a:xfrm>
          <a:prstGeom prst="roundRect">
            <a:avLst>
              <a:gd name="adj" fmla="val 1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301752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Segoe UI"/>
              </a:defRPr>
            </a:pPr>
            <a:r>
              <a:t>50 devs × 2hr × 250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28016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280160"/>
            <a:ext cx="260604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7C3AED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10312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F172A"/>
                </a:solidFill>
                <a:latin typeface="Segoe UI"/>
              </a:defRPr>
            </a:pPr>
            <a:r>
              <a:t>Faster Error</a:t>
            </a:r>
            <a:br/>
            <a:r>
              <a:t>Resolution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69748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64748B"/>
                </a:solidFill>
                <a:latin typeface="Segoe UI"/>
              </a:defRPr>
            </a:pPr>
            <a:r>
              <a:t>30 min → 2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128016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1280160"/>
            <a:ext cx="260604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0" y="150876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D97706"/>
                </a:solidFill>
                <a:latin typeface="Segoe UI"/>
              </a:defRPr>
            </a:pPr>
            <a:r>
              <a:t>5x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10312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F172A"/>
                </a:solidFill>
                <a:latin typeface="Segoe UI"/>
              </a:defRPr>
            </a:pPr>
            <a:r>
              <a:t>Faster Ticket</a:t>
            </a:r>
            <a:br/>
            <a:r>
              <a:t>Creation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69748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64748B"/>
                </a:solidFill>
                <a:latin typeface="Segoe UI"/>
              </a:defRPr>
            </a:pPr>
            <a:r>
              <a:t>15 min → 2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749039"/>
            <a:ext cx="11247120" cy="283464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2D5F"/>
                </a:solidFill>
                <a:latin typeface="Segoe UI"/>
              </a:defRPr>
            </a:pPr>
            <a:r>
              <a:t>Strategic Value Beyond Productivity</a:t>
            </a:r>
          </a:p>
        </p:txBody>
      </p:sp>
      <p:sp>
        <p:nvSpPr>
          <p:cNvPr id="31" name="Oval 30"/>
          <p:cNvSpPr/>
          <p:nvPr/>
        </p:nvSpPr>
        <p:spPr>
          <a:xfrm>
            <a:off x="731520" y="4251960"/>
            <a:ext cx="91440" cy="91440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2062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57A8"/>
                </a:solidFill>
                <a:latin typeface="Segoe UI"/>
              </a:defRPr>
            </a:pPr>
            <a:r>
              <a:t>Risk Reduction &amp; Compliance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0624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Automated PR reviews enforce Zions security standards (IAM least privilege, encryption at rest, network rules, secrets management). Security issues caught at code review stage, not in production audit.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4818888"/>
            <a:ext cx="91440" cy="91440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77316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57A8"/>
                </a:solidFill>
                <a:latin typeface="Segoe UI"/>
              </a:defRPr>
            </a:pPr>
            <a:r>
              <a:t>Knowledge Retention &amp; Onboarding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77316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RAG pipeline captures institutional knowledge in a searchable vector store. New developers get instant answers instead of waiting for SME availability. Reduces dependency on tribal knowledge.</a:t>
            </a:r>
          </a:p>
        </p:txBody>
      </p:sp>
      <p:sp>
        <p:nvSpPr>
          <p:cNvPr id="37" name="Oval 36"/>
          <p:cNvSpPr/>
          <p:nvPr/>
        </p:nvSpPr>
        <p:spPr>
          <a:xfrm>
            <a:off x="731520" y="5385816"/>
            <a:ext cx="91440" cy="91440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534009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57A8"/>
                </a:solidFill>
                <a:latin typeface="Segoe UI"/>
              </a:defRPr>
            </a:pPr>
            <a:r>
              <a:t>Developer Experience &amp; Retention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534009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Unified interface reduces cognitive load and tool fatigue. Developers stay in flow state longer. Better DX correlates directly with retention — reducing turnover costs of $150K+ per engineer.</a:t>
            </a:r>
          </a:p>
        </p:txBody>
      </p:sp>
      <p:sp>
        <p:nvSpPr>
          <p:cNvPr id="40" name="Oval 39"/>
          <p:cNvSpPr/>
          <p:nvPr/>
        </p:nvSpPr>
        <p:spPr>
          <a:xfrm>
            <a:off x="731520" y="5952744"/>
            <a:ext cx="91440" cy="91440"/>
          </a:xfrm>
          <a:prstGeom prst="ellipse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90702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57A8"/>
                </a:solidFill>
                <a:latin typeface="Segoe UI"/>
              </a:defRPr>
            </a:pPr>
            <a:r>
              <a:t>Enterprise Scalability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590702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Architecture supports live Confluence, ServiceNow, and ADO integrations. Custom knowledge bases per team. Multi-tenant ready. Path from prototype to production is incremental — no rewrite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Innovation &amp; Differentiators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Leveraging cutting-edge AI, modern web technologies, and enterprise-aware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54864" cy="1097280"/>
          </a:xfrm>
          <a:prstGeom prst="rect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280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RAG-Powered Knowledge Base (LangChain + ChromaDB)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Unlike generic chatbots, DevKick uses Retrieval-Augmented Generation to ground every answer in real Zions documentation. Semantic search understands developer intent, not just keywords. The knowledge base is extensible — add Confluence pages, URLs, or custom documents at runtime.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21408"/>
            <a:ext cx="45720" cy="201168"/>
          </a:xfrm>
          <a:prstGeom prst="rect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2140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0057A8"/>
                </a:solidFill>
                <a:latin typeface="Segoe UI"/>
              </a:defRPr>
            </a:pPr>
            <a:r>
              <a:t>"Wow" factor: Real-time document upload and indexing — upload a URL and query it immediately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54864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06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Browser-Native Side Panel (Chrome Manifest V3)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The extension lives in the browser's side panel — always accessible, never in the way. This is a fundamentally new UX pattern: the assistant sits beside the developer's work. No new tools to install, no new windows to manage, no login flows.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447288"/>
            <a:ext cx="45720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44728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7C3AED"/>
                </a:solidFill>
                <a:latin typeface="Segoe UI"/>
              </a:defRPr>
            </a:pPr>
            <a:r>
              <a:t>"Wow" factor: Zero-install deployment for end users — just load the extension and 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54864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AI Security Code Review Against Zions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One-click PR analysis checks Terraform code against Zions-specific security policies: encryption at rest, no public IPs, firewall rules, VPC flow logs, hardcoded secrets detection. Returns structured results with severity, fixes, and an overall quality score.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773168"/>
            <a:ext cx="45720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16A34A"/>
                </a:solidFill>
                <a:latin typeface="Segoe UI"/>
              </a:defRPr>
            </a:pPr>
            <a:r>
              <a:t>"Wow" factor: Copy-paste the AI review directly into ADO PR comments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57800"/>
            <a:ext cx="54864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57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Cross-Tool Workflow Integration (Chat → Escalate → Goalie Queue)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The real innovation is seamless flow between features. A developer troubleshoots in Chat, escalates to Goalie with one click (auto-fills context), tracks in the Queue — all in one panel. This is a connected workflow, not 4 separate tools.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6099048"/>
            <a:ext cx="45720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6099048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D97706"/>
                </a:solidFill>
                <a:latin typeface="Segoe UI"/>
              </a:defRPr>
            </a:pPr>
            <a:r>
              <a:t>"Wow" factor: Conversation context automatically populates ServiceNow ticket description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400800"/>
            <a:ext cx="11247120" cy="320040"/>
          </a:xfrm>
          <a:prstGeom prst="roundRect">
            <a:avLst>
              <a:gd name="adj" fmla="val 4000"/>
            </a:avLst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Segoe UI"/>
              </a:defRPr>
            </a:pPr>
            <a:r>
              <a:t>React 18  |  TypeScript  |  Tailwind CSS  |  Vite 6  |  FastAPI  |  LangChain  |  ChromaDB  |  Google Gemini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Functional Solution: 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A working, tangible prototype — not mockups or wireframes. Every feature is deployable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394960" cy="5029200"/>
          </a:xfrm>
          <a:prstGeom prst="roundRect">
            <a:avLst>
              <a:gd name="adj" fmla="val 3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394960" cy="50292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LIVE &amp; FUNCTIONAL TODAY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197510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Chrome/Edge Side Panel Extension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Fully functional in any Chromium browser — Manifest V3, side panel API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45059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AI Chat with RAG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957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Real LLM + real vector store + real document retrieval — not hardcoded responses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926080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712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ChromaDB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87121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Real embeddings, real semantic search, real document chunking via LangChain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401568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3467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AI-Powered PR Code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34670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Real LLM analysis against real Zions security standards — structured results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877056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221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ServiceNow Ticket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82219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6 ticket types with Goalie escalation, queue dashboard, and recent history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35254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2976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Goalie Escalation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2976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Chat → one-click escalate → auto-filled ticket → Goalie Queue tracking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828032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7731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Developer Standards &amp; Quick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7731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Real content: 12 quick links, 6 checklists, notifications, repo bootstrap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" y="5303520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486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Confluence Connector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524865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Real REST API integration — works live when credentials are provided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5779008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724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Document Upload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572414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Upload text or URLs to expand the knowledge base at runtime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1280160"/>
            <a:ext cx="5394960" cy="5029200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0" y="1280160"/>
            <a:ext cx="5394960" cy="502920"/>
          </a:xfrm>
          <a:prstGeom prst="roundRect">
            <a:avLst>
              <a:gd name="adj" fmla="val 3000"/>
            </a:avLst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0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PRODUCTION-READY ARCHITECTURE</a:t>
            </a:r>
          </a:p>
        </p:txBody>
      </p:sp>
      <p:sp>
        <p:nvSpPr>
          <p:cNvPr id="40" name="Oval 39"/>
          <p:cNvSpPr/>
          <p:nvPr/>
        </p:nvSpPr>
        <p:spPr>
          <a:xfrm>
            <a:off x="6217920" y="197510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1920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ServiceNow API Integration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1920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Mock layer designed for direct swap to live ServiceNow REST API</a:t>
            </a:r>
          </a:p>
        </p:txBody>
      </p:sp>
      <p:sp>
        <p:nvSpPr>
          <p:cNvPr id="43" name="Oval 42"/>
          <p:cNvSpPr/>
          <p:nvPr/>
        </p:nvSpPr>
        <p:spPr>
          <a:xfrm>
            <a:off x="6217920" y="2450592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3957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ADO PR Diff Parsing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23957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Hardcoded demo snippet — swap for ADO/GitHub API to fetch real diffs</a:t>
            </a:r>
          </a:p>
        </p:txBody>
      </p:sp>
      <p:sp>
        <p:nvSpPr>
          <p:cNvPr id="46" name="Oval 45"/>
          <p:cNvSpPr/>
          <p:nvPr/>
        </p:nvSpPr>
        <p:spPr>
          <a:xfrm>
            <a:off x="6217920" y="2926080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87121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Repo Bootstrap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287121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Simulated creation — ready to connect to ADO REST API for real repo scaffolding</a:t>
            </a:r>
          </a:p>
        </p:txBody>
      </p:sp>
      <p:sp>
        <p:nvSpPr>
          <p:cNvPr id="49" name="Oval 48"/>
          <p:cNvSpPr/>
          <p:nvPr/>
        </p:nvSpPr>
        <p:spPr>
          <a:xfrm>
            <a:off x="6217920" y="3401568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3467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Notification 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5360" y="334670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Static reminders — designed for ADO work item and calendar API integration</a:t>
            </a:r>
          </a:p>
        </p:txBody>
      </p:sp>
      <p:sp>
        <p:nvSpPr>
          <p:cNvPr id="52" name="Oval 51"/>
          <p:cNvSpPr/>
          <p:nvPr/>
        </p:nvSpPr>
        <p:spPr>
          <a:xfrm>
            <a:off x="6217920" y="3877056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46520" y="38221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Multi-Model Support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0" y="382219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Works with Gemini, OpenAI (drop-in), or any compatible API</a:t>
            </a:r>
          </a:p>
        </p:txBody>
      </p:sp>
      <p:sp>
        <p:nvSpPr>
          <p:cNvPr id="55" name="Oval 54"/>
          <p:cNvSpPr/>
          <p:nvPr/>
        </p:nvSpPr>
        <p:spPr>
          <a:xfrm>
            <a:off x="6217920" y="435254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46520" y="42976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Environment Config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0" y="42976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.env-based config for API keys, base URLs, model selection — enterprise ready</a:t>
            </a:r>
          </a:p>
        </p:txBody>
      </p:sp>
      <p:sp>
        <p:nvSpPr>
          <p:cNvPr id="58" name="Oval 57"/>
          <p:cNvSpPr/>
          <p:nvPr/>
        </p:nvSpPr>
        <p:spPr>
          <a:xfrm>
            <a:off x="6217920" y="4828032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477316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CORS &amp; Security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95360" y="47731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FastAPI CORS middleware configured — ready for domain-specific restrictions</a:t>
            </a:r>
          </a:p>
        </p:txBody>
      </p:sp>
      <p:sp>
        <p:nvSpPr>
          <p:cNvPr id="61" name="Oval 60"/>
          <p:cNvSpPr/>
          <p:nvPr/>
        </p:nvSpPr>
        <p:spPr>
          <a:xfrm>
            <a:off x="6217920" y="5303520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46520" y="52486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API Documentation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95360" y="524865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Auto-generated Swagger/OpenAPI docs at /docs endpoint</a:t>
            </a:r>
          </a:p>
        </p:txBody>
      </p:sp>
      <p:sp>
        <p:nvSpPr>
          <p:cNvPr id="64" name="Oval 63"/>
          <p:cNvSpPr/>
          <p:nvPr/>
        </p:nvSpPr>
        <p:spPr>
          <a:xfrm>
            <a:off x="6217920" y="5779008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46520" y="57241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F172A"/>
                </a:solidFill>
                <a:latin typeface="Segoe UI"/>
              </a:defRPr>
            </a:pPr>
            <a:r>
              <a:t>Health Monitoring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0" y="572414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475569"/>
                </a:solidFill>
                <a:latin typeface="Segoe UI"/>
              </a:defRPr>
            </a:pPr>
            <a:r>
              <a:t>Health check endpoint and knowledge base status API for ops monitoring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Lessons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Key takeaways from building a developer tool during the hackathon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307592"/>
            <a:ext cx="347472" cy="34747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075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80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Start with the Pain Point, Not the 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8191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We interviewed developers about their biggest daily frustrations before writing code. The 4-tab structure emerged directly from the 4 most common complaints. Technology decisions followed from requirements, not the other way around.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29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0057A8"/>
                </a:solidFill>
                <a:latin typeface="Segoe UI"/>
              </a:defRPr>
            </a:pPr>
            <a:r>
              <a:t>Key Takeaway: User research, even informal, produces better architecture than technology-first thinking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86584"/>
            <a:ext cx="347472" cy="34747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865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591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RAG Quality is Only as Good as Document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66090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The chatbot is only as good as the knowledge base behind it. We spent significant time curating and structuring the 5 knowledge base documents to mirror real Confluence pages with specific role names, project IDs, and resolution steps.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0896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0057A8"/>
                </a:solidFill>
                <a:latin typeface="Segoe UI"/>
              </a:defRPr>
            </a:pPr>
            <a:r>
              <a:t>Key Takeaway: Invest in content curation — it has higher ROI than model tuning for enterprise RAG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465576"/>
            <a:ext cx="347472" cy="34747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655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3814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Side Panel UX Requires Mobile-First Thinking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73989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A side panel has ~350px width. We redesigned the UI multiple times to be information-dense without clutter. Mobile-first design principles and constraints actually forced better decisions: every pixel must earn its place.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187952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0057A8"/>
                </a:solidFill>
                <a:latin typeface="Segoe UI"/>
              </a:defRPr>
            </a:pPr>
            <a:r>
              <a:t>Key Takeaway: Constraints drive creativity — the narrow form factor led to a more focused, usable product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544568"/>
            <a:ext cx="347472" cy="34747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445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51713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Integration Beats Isolation — Workflows, Not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1888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The real value is not in any single tab — it is in the seamless flow between them. Chat → Escalation → Goalie Queue is one connected journey. Users want workflows, not a collection of separate tools.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266944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0057A8"/>
                </a:solidFill>
                <a:latin typeface="Segoe UI"/>
              </a:defRPr>
            </a:pPr>
            <a:r>
              <a:t>Key Takeaway: Design for user journeys across features, not individual feature functionality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23560"/>
            <a:ext cx="347472" cy="347472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235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5961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172A"/>
                </a:solidFill>
                <a:latin typeface="Segoe UI"/>
              </a:defRPr>
            </a:pPr>
            <a:r>
              <a:t>Build for Production from Day 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75569"/>
                </a:solidFill>
                <a:latin typeface="Segoe UI"/>
              </a:defRPr>
            </a:pPr>
            <a:r>
              <a:t>Even as a hackathon prototype, we used real APIs, real vector stores, and a real extension manifest. Mock layers are designed as swap-in replacements. The path from demo to production is incremental, not a rewrite.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45936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1">
                <a:solidFill>
                  <a:srgbClr val="0057A8"/>
                </a:solidFill>
                <a:latin typeface="Segoe UI"/>
              </a:defRPr>
            </a:pPr>
            <a:r>
              <a:t>Key Takeaway: Prototype architecture should mirror production architecture — just with mock data layers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10058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2D5F"/>
                </a:solidFill>
                <a:latin typeface="Segoe UI"/>
              </a:defRPr>
            </a:pPr>
            <a:r>
              <a:t>Roadmap: Path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475569"/>
                </a:solidFill>
                <a:latin typeface="Segoe UI"/>
              </a:defRPr>
            </a:pPr>
            <a:r>
              <a:t>Incremental deployment strategy — swap mocks for live APIs with zero architectural changes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80160"/>
            <a:ext cx="3474720" cy="4572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3474720" cy="594360"/>
          </a:xfrm>
          <a:prstGeom prst="roundRect">
            <a:avLst>
              <a:gd name="adj" fmla="val 4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Phase 1: 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01168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011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6A34A"/>
                </a:solidFill>
                <a:latin typeface="Segoe UI"/>
              </a:defRPr>
            </a:pPr>
            <a:r>
              <a:t>COMPLETE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56946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514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Working Chrome/Edge extension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07238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Real RAG pipeline (LangChain + ChromaDB)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357530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Real LLM chat and code 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07822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ServiceNow ticket UI with Goalie flow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458114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26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Developer standards and quick links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508406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029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Full API with Swagger docs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13632" y="3291840"/>
            <a:ext cx="173736" cy="32004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114800" y="1280160"/>
            <a:ext cx="3474720" cy="4572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114800" y="1280160"/>
            <a:ext cx="3474720" cy="594360"/>
          </a:xfrm>
          <a:prstGeom prst="roundRect">
            <a:avLst>
              <a:gd name="adj" fmla="val 4000"/>
            </a:avLst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13716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Phase 2: Next Quarter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0" y="201168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2011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0057A8"/>
                </a:solidFill>
                <a:latin typeface="Segoe UI"/>
              </a:defRPr>
            </a:pPr>
            <a:r>
              <a:t>READY TO BUILD</a:t>
            </a:r>
          </a:p>
        </p:txBody>
      </p:sp>
      <p:sp>
        <p:nvSpPr>
          <p:cNvPr id="30" name="Oval 29"/>
          <p:cNvSpPr/>
          <p:nvPr/>
        </p:nvSpPr>
        <p:spPr>
          <a:xfrm>
            <a:off x="4297680" y="256946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514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Live Confluence sync (connector built)</a:t>
            </a:r>
          </a:p>
        </p:txBody>
      </p:sp>
      <p:sp>
        <p:nvSpPr>
          <p:cNvPr id="32" name="Oval 31"/>
          <p:cNvSpPr/>
          <p:nvPr/>
        </p:nvSpPr>
        <p:spPr>
          <a:xfrm>
            <a:off x="4297680" y="307238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0" y="3017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Live ServiceNow ticket creation via API</a:t>
            </a:r>
          </a:p>
        </p:txBody>
      </p:sp>
      <p:sp>
        <p:nvSpPr>
          <p:cNvPr id="34" name="Oval 33"/>
          <p:cNvSpPr/>
          <p:nvPr/>
        </p:nvSpPr>
        <p:spPr>
          <a:xfrm>
            <a:off x="4297680" y="357530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3520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ADO PR diff parsing via REST API</a:t>
            </a:r>
          </a:p>
        </p:txBody>
      </p:sp>
      <p:sp>
        <p:nvSpPr>
          <p:cNvPr id="36" name="Oval 35"/>
          <p:cNvSpPr/>
          <p:nvPr/>
        </p:nvSpPr>
        <p:spPr>
          <a:xfrm>
            <a:off x="4297680" y="407822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Team pilot with 10-20 developers</a:t>
            </a:r>
          </a:p>
        </p:txBody>
      </p:sp>
      <p:sp>
        <p:nvSpPr>
          <p:cNvPr id="38" name="Oval 37"/>
          <p:cNvSpPr/>
          <p:nvPr/>
        </p:nvSpPr>
        <p:spPr>
          <a:xfrm>
            <a:off x="4297680" y="458114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4526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Usage analytics and feedback loop</a:t>
            </a:r>
          </a:p>
        </p:txBody>
      </p:sp>
      <p:sp>
        <p:nvSpPr>
          <p:cNvPr id="40" name="Oval 39"/>
          <p:cNvSpPr/>
          <p:nvPr/>
        </p:nvSpPr>
        <p:spPr>
          <a:xfrm>
            <a:off x="4297680" y="5084064"/>
            <a:ext cx="91440" cy="91440"/>
          </a:xfrm>
          <a:prstGeom prst="ellipse">
            <a:avLst/>
          </a:prstGeom>
          <a:solidFill>
            <a:srgbClr val="005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0" y="5029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SSO/LDAP authentication integration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7616952" y="3291840"/>
            <a:ext cx="173736" cy="32004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818120" y="1280160"/>
            <a:ext cx="3474720" cy="4572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818120" y="1280160"/>
            <a:ext cx="3474720" cy="594360"/>
          </a:xfrm>
          <a:prstGeom prst="roundRect">
            <a:avLst>
              <a:gd name="adj" fmla="val 4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13716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Segoe UI"/>
              </a:defRPr>
            </a:pPr>
            <a:r>
              <a:t>Phase 3: Future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2520" y="201168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32520" y="20116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C3AED"/>
                </a:solidFill>
                <a:latin typeface="Segoe UI"/>
              </a:defRPr>
            </a:pPr>
            <a:r>
              <a:t>PLANNED</a:t>
            </a:r>
          </a:p>
        </p:txBody>
      </p:sp>
      <p:sp>
        <p:nvSpPr>
          <p:cNvPr id="48" name="Oval 47"/>
          <p:cNvSpPr/>
          <p:nvPr/>
        </p:nvSpPr>
        <p:spPr>
          <a:xfrm>
            <a:off x="8001000" y="256946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80" y="2514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ADO pipeline status dashboard</a:t>
            </a:r>
          </a:p>
        </p:txBody>
      </p:sp>
      <p:sp>
        <p:nvSpPr>
          <p:cNvPr id="50" name="Oval 49"/>
          <p:cNvSpPr/>
          <p:nvPr/>
        </p:nvSpPr>
        <p:spPr>
          <a:xfrm>
            <a:off x="8001000" y="307238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83880" y="3017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Teams notifications</a:t>
            </a:r>
          </a:p>
        </p:txBody>
      </p:sp>
      <p:sp>
        <p:nvSpPr>
          <p:cNvPr id="52" name="Oval 51"/>
          <p:cNvSpPr/>
          <p:nvPr/>
        </p:nvSpPr>
        <p:spPr>
          <a:xfrm>
            <a:off x="8001000" y="357530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83880" y="3520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Custom knowledge bases per team</a:t>
            </a:r>
          </a:p>
        </p:txBody>
      </p:sp>
      <p:sp>
        <p:nvSpPr>
          <p:cNvPr id="54" name="Oval 53"/>
          <p:cNvSpPr/>
          <p:nvPr/>
        </p:nvSpPr>
        <p:spPr>
          <a:xfrm>
            <a:off x="8001000" y="407822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83880" y="4023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Multi-tenant support</a:t>
            </a:r>
          </a:p>
        </p:txBody>
      </p:sp>
      <p:sp>
        <p:nvSpPr>
          <p:cNvPr id="56" name="Oval 55"/>
          <p:cNvSpPr/>
          <p:nvPr/>
        </p:nvSpPr>
        <p:spPr>
          <a:xfrm>
            <a:off x="8001000" y="458114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83880" y="4526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Google Enterprise AI integration</a:t>
            </a:r>
          </a:p>
        </p:txBody>
      </p:sp>
      <p:sp>
        <p:nvSpPr>
          <p:cNvPr id="58" name="Oval 57"/>
          <p:cNvSpPr/>
          <p:nvPr/>
        </p:nvSpPr>
        <p:spPr>
          <a:xfrm>
            <a:off x="8001000" y="5084064"/>
            <a:ext cx="91440" cy="914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83880" y="5029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75569"/>
                </a:solidFill>
                <a:latin typeface="Segoe UI"/>
              </a:defRPr>
            </a:pPr>
            <a:r>
              <a:t>Enterprise rollout (200+ devs)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6035040"/>
            <a:ext cx="11338560" cy="548640"/>
          </a:xfrm>
          <a:prstGeom prst="roundRect">
            <a:avLst>
              <a:gd name="adj" fmla="val 3000"/>
            </a:avLst>
          </a:prstGeom>
          <a:solidFill>
            <a:srgbClr val="002D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05332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Segoe UI"/>
              </a:defRPr>
            </a:pPr>
            <a:r>
              <a:t>Architecture designed for additive deployment: live integrations replace mock functions with zero UI or API changes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D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94960" y="914400"/>
            <a:ext cx="1371600" cy="1371600"/>
          </a:xfrm>
          <a:prstGeom prst="roundRect">
            <a:avLst>
              <a:gd name="adj" fmla="val 15000"/>
            </a:avLst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94960" y="100584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FFFFF"/>
                </a:solidFill>
                <a:latin typeface="Segoe UI"/>
              </a:defRPr>
            </a:pPr>
            <a:r>
              <a:t>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FFFFF"/>
                </a:solidFill>
                <a:latin typeface="Segoe UI"/>
              </a:defRPr>
            </a:pPr>
            <a:r>
              <a:t>Zions DevKick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00A3DA"/>
                </a:solidFill>
                <a:latin typeface="Segoe UI"/>
              </a:defRPr>
            </a:pPr>
            <a:r>
              <a:t>From a 1-hour context-switching nightmare</a:t>
            </a:r>
            <a:br/>
            <a:r>
              <a:t>to a 2-minute seamless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A3DA"/>
                </a:solidFill>
                <a:latin typeface="Segoe UI"/>
              </a:defRPr>
            </a:pPr>
            <a:r>
              <a:t>4 Tabs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663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94A3B8"/>
                </a:solidFill>
                <a:latin typeface="Segoe UI"/>
              </a:defRPr>
            </a:pPr>
            <a:r>
              <a:t>4 Bottlenecks 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A3DA"/>
                </a:solidFill>
                <a:latin typeface="Segoe UI"/>
              </a:defRPr>
            </a:pPr>
            <a:r>
              <a:t>2+ hrs/day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663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94A3B8"/>
                </a:solidFill>
                <a:latin typeface="Segoe UI"/>
              </a:defRPr>
            </a:pPr>
            <a:r>
              <a:t>Developer Time Recovered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A3DA"/>
                </a:solidFill>
                <a:latin typeface="Segoe UI"/>
              </a:defRPr>
            </a:pPr>
            <a:r>
              <a:t>1 Side Panel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663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94A3B8"/>
                </a:solidFill>
                <a:latin typeface="Segoe UI"/>
              </a:defRPr>
            </a:pPr>
            <a:r>
              <a:t>Zero Context-Switching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4937760"/>
            <a:ext cx="3017520" cy="18288"/>
          </a:xfrm>
          <a:prstGeom prst="rect">
            <a:avLst/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A3B8"/>
                </a:solidFill>
                <a:latin typeface="Segoe UI"/>
              </a:defRPr>
            </a:pPr>
            <a:r>
              <a:t>Abhinav Akey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B"/>
                </a:solidFill>
                <a:latin typeface="Segoe UI"/>
              </a:defRPr>
            </a:pPr>
            <a:r>
              <a:t>ETO Innovation Hackathon  |  May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