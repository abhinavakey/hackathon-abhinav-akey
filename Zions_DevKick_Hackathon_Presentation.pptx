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280160"/>
            <a:ext cx="1371600" cy="1371600"/>
          </a:xfrm>
          <a:prstGeom prst="roundRect">
            <a:avLst>
              <a:gd name="adj" fmla="val 15000"/>
            </a:avLst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3716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Zions DevKick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00A3DA"/>
                </a:solidFill>
                <a:latin typeface="Segoe UI"/>
              </a:defRPr>
            </a:pPr>
            <a:r>
              <a:t>The Centralized Developer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480560"/>
            <a:ext cx="2103120" cy="27432"/>
          </a:xfrm>
          <a:prstGeom prst="rect">
            <a:avLst/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709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Segoe UI"/>
              </a:defRPr>
            </a:pPr>
            <a:r>
              <a:t>Eliminating developer context-switching by unifying troubleshooting, code review,</a:t>
            </a:r>
            <a:br/>
            <a:r>
              <a:t>ticketing, and developer resources into a single browser side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94A3B8"/>
                </a:solidFill>
                <a:latin typeface="Segoe UI"/>
              </a:defRPr>
            </a:pPr>
            <a:r>
              <a:t>ETO Innovation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8932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Abhinav Akey  | 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The Problem We Are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Developers at Zions lose 2+ hours every day context-switching between disconnected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600200"/>
            <a:ext cx="1508760" cy="4114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184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30–60 min/incident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Troubleshooting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Terraform GCP 403 errors lead to 30+ minutes of searching Confluence, Slack, and asking teammates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840480"/>
            <a:ext cx="2423160" cy="182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DC2626"/>
                </a:solidFill>
                <a:latin typeface="Segoe UI"/>
              </a:defRPr>
            </a:pPr>
            <a:r>
              <a:t>Business Impact: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334055"/>
                </a:solidFill>
                <a:latin typeface="Segoe UI"/>
              </a:defRPr>
            </a:pPr>
            <a:r>
              <a:t>Blocked pipelines, idle developers, delayed deployments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137160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272" y="1371600"/>
            <a:ext cx="26974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13632" y="1600200"/>
            <a:ext cx="1508760" cy="4114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16184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20–40 min/PR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PR Code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5603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Context-switching to ADO, parsing massive YAML and Terraform diffs, writing meaningful security comments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56432" y="3840480"/>
            <a:ext cx="2423160" cy="182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D97706"/>
                </a:solidFill>
                <a:latin typeface="Segoe UI"/>
              </a:defRPr>
            </a:pPr>
            <a:r>
              <a:t>Business Impact: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206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334055"/>
                </a:solidFill>
                <a:latin typeface="Segoe UI"/>
              </a:defRPr>
            </a:pPr>
            <a:r>
              <a:t>Slow review cycles, security issues missed, merge bottlenecks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137160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137160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75704" y="1600200"/>
            <a:ext cx="1508760" cy="4114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75704" y="16184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15–30 min/request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ServiceNow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25603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Stopping work to navigate ServiceNow portal just to request IAM access or file a bug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18504" y="3840480"/>
            <a:ext cx="242316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C3AED"/>
                </a:solidFill>
                <a:latin typeface="Segoe UI"/>
              </a:defRPr>
            </a:pPr>
            <a:r>
              <a:t>Business Impact: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4206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334055"/>
                </a:solidFill>
                <a:latin typeface="Segoe UI"/>
              </a:defRPr>
            </a:pPr>
            <a:r>
              <a:t>Broken flow state, delayed access, frustration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43416" y="137160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3416" y="1371600"/>
            <a:ext cx="2697480" cy="54864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37776" y="1600200"/>
            <a:ext cx="1508760" cy="411480"/>
          </a:xfrm>
          <a:prstGeom prst="roundRect">
            <a:avLst>
              <a:gd name="adj" fmla="val 15000"/>
            </a:avLst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16184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Segoe UI"/>
              </a:defRPr>
            </a:pPr>
            <a:r>
              <a:t>5–10 min/search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Finding Resources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256032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Digging through bookmarks and Confluence to find the right ADO template, runbook, or standard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576" y="3840480"/>
            <a:ext cx="2423160" cy="18288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0576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057A8"/>
                </a:solidFill>
                <a:latin typeface="Segoe UI"/>
              </a:defRPr>
            </a:pPr>
            <a:r>
              <a:t>Business Impact: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420624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334055"/>
                </a:solidFill>
                <a:latin typeface="Segoe UI"/>
              </a:defRPr>
            </a:pPr>
            <a:r>
              <a:t>Non-standard repos, missed checklists, inconsistency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A3DA"/>
                </a:solidFill>
                <a:latin typeface="Segoe UI"/>
              </a:defRPr>
            </a:pPr>
            <a:r>
              <a:t>Aggregate Impact: 2+ hours/day per developer lost to tool fragmentation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94A3B8"/>
                </a:solidFill>
                <a:latin typeface="Segoe UI"/>
              </a:defRPr>
            </a:pPr>
            <a:r>
              <a:t>For a team of 50 developers: 25,000+ engineering hours wasted per year  |  Estimated productivity loss: $500K+ annually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Our Solution: Zions DevKick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A Chrome/Edge Side Panel extension — 4 tabs solving 4 bottlenecks, all without leaving the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697480" cy="46177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697480" cy="868680"/>
          </a:xfrm>
          <a:prstGeom prst="roundRect">
            <a:avLst>
              <a:gd name="adj" fmla="val 4000"/>
            </a:avLst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2E8F0"/>
                </a:solidFill>
                <a:latin typeface="Segoe UI"/>
              </a:defRPr>
            </a:pPr>
            <a:r>
              <a:t>AI-Powered</a:t>
            </a:r>
            <a:br/>
            <a:r>
              <a:t>Troubleshooting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43230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RAG-powered chatbot backed by Zions internal knowledge base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30098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Instant answers to GCP IAM errors, ADO pipeline failures, internal processes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6966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ChromaDB vector store with semantic search across 5 curated docs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03834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One-click "Escalate to Goalie" from any chat message with auto-filled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1325880"/>
            <a:ext cx="2697480" cy="46177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19272" y="1325880"/>
            <a:ext cx="2697480" cy="86868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13716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16916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2E8F0"/>
                </a:solidFill>
                <a:latin typeface="Segoe UI"/>
              </a:defRPr>
            </a:pPr>
            <a:r>
              <a:t>Automated PR</a:t>
            </a:r>
            <a:br/>
            <a:r>
              <a:t>Code Review</a:t>
            </a:r>
          </a:p>
        </p:txBody>
      </p:sp>
      <p:sp>
        <p:nvSpPr>
          <p:cNvPr id="23" name="Oval 22"/>
          <p:cNvSpPr/>
          <p:nvPr/>
        </p:nvSpPr>
        <p:spPr>
          <a:xfrm>
            <a:off x="3456432" y="243230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3774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One-click "Analyze Current PR" detects ADO/GitHub PR pages automatically</a:t>
            </a:r>
          </a:p>
        </p:txBody>
      </p:sp>
      <p:sp>
        <p:nvSpPr>
          <p:cNvPr id="25" name="Oval 24"/>
          <p:cNvSpPr/>
          <p:nvPr/>
        </p:nvSpPr>
        <p:spPr>
          <a:xfrm>
            <a:off x="3456432" y="330098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32461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AI reviews against Zions security standards (CKV policies, CMEK, IAM, network)</a:t>
            </a:r>
          </a:p>
        </p:txBody>
      </p:sp>
      <p:sp>
        <p:nvSpPr>
          <p:cNvPr id="27" name="Oval 26"/>
          <p:cNvSpPr/>
          <p:nvPr/>
        </p:nvSpPr>
        <p:spPr>
          <a:xfrm>
            <a:off x="3456432" y="416966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41148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Structured output: quality score, issues by severity, specific fix recommendations</a:t>
            </a:r>
          </a:p>
        </p:txBody>
      </p:sp>
      <p:sp>
        <p:nvSpPr>
          <p:cNvPr id="29" name="Oval 28"/>
          <p:cNvSpPr/>
          <p:nvPr/>
        </p:nvSpPr>
        <p:spPr>
          <a:xfrm>
            <a:off x="3456432" y="503834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49834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Copy full review to clipboard for pasting directly into PR comments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1325880"/>
            <a:ext cx="2697480" cy="46177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81344" y="1325880"/>
            <a:ext cx="2697480" cy="868680"/>
          </a:xfrm>
          <a:prstGeom prst="roundRect">
            <a:avLst>
              <a:gd name="adj" fmla="val 4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13716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16916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2E8F0"/>
                </a:solidFill>
                <a:latin typeface="Segoe UI"/>
              </a:defRPr>
            </a:pPr>
            <a:r>
              <a:t>ServiceNow</a:t>
            </a:r>
            <a:br/>
            <a:r>
              <a:t>Integration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318504" y="2432304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4" y="23774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Create ServiceNow tickets without leaving the browser — 6 request types</a:t>
            </a:r>
          </a:p>
        </p:txBody>
      </p:sp>
      <p:sp>
        <p:nvSpPr>
          <p:cNvPr id="37" name="Oval 36"/>
          <p:cNvSpPr/>
          <p:nvPr/>
        </p:nvSpPr>
        <p:spPr>
          <a:xfrm>
            <a:off x="6318504" y="3300984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4" y="32461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Goalie Escalation type routes to Goalie Review Queue with SLA tracking</a:t>
            </a:r>
          </a:p>
        </p:txBody>
      </p:sp>
      <p:sp>
        <p:nvSpPr>
          <p:cNvPr id="39" name="Oval 38"/>
          <p:cNvSpPr/>
          <p:nvPr/>
        </p:nvSpPr>
        <p:spPr>
          <a:xfrm>
            <a:off x="6318504" y="4169664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4" y="41148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Goalie Queue Dashboard: view active escalations, status, priority, assignee</a:t>
            </a:r>
          </a:p>
        </p:txBody>
      </p:sp>
      <p:sp>
        <p:nvSpPr>
          <p:cNvPr id="41" name="Oval 40"/>
          <p:cNvSpPr/>
          <p:nvPr/>
        </p:nvSpPr>
        <p:spPr>
          <a:xfrm>
            <a:off x="6318504" y="5038344"/>
            <a:ext cx="91440" cy="914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4" y="49834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Escalation from Chat auto-fills ticket with full conversation context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3416" y="1325880"/>
            <a:ext cx="2697480" cy="46177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43416" y="1325880"/>
            <a:ext cx="2697480" cy="86868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3416" y="13716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416" y="16916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2E8F0"/>
                </a:solidFill>
                <a:latin typeface="Segoe UI"/>
              </a:defRPr>
            </a:pPr>
            <a:r>
              <a:t>Developer</a:t>
            </a:r>
            <a:br/>
            <a:r>
              <a:t>Command Center</a:t>
            </a:r>
          </a:p>
        </p:txBody>
      </p:sp>
      <p:sp>
        <p:nvSpPr>
          <p:cNvPr id="47" name="Oval 46"/>
          <p:cNvSpPr/>
          <p:nvPr/>
        </p:nvSpPr>
        <p:spPr>
          <a:xfrm>
            <a:off x="9180576" y="243230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63456" y="237744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Quick links to 12 essential tools: ADO, GCP Console, Confluence, ServiceNow, etc.</a:t>
            </a:r>
          </a:p>
        </p:txBody>
      </p:sp>
      <p:sp>
        <p:nvSpPr>
          <p:cNvPr id="49" name="Oval 48"/>
          <p:cNvSpPr/>
          <p:nvPr/>
        </p:nvSpPr>
        <p:spPr>
          <a:xfrm>
            <a:off x="9180576" y="330098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63456" y="324612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Sprint reminders, code freeze alerts, and training deadline notifications</a:t>
            </a:r>
          </a:p>
        </p:txBody>
      </p:sp>
      <p:sp>
        <p:nvSpPr>
          <p:cNvPr id="51" name="Oval 50"/>
          <p:cNvSpPr/>
          <p:nvPr/>
        </p:nvSpPr>
        <p:spPr>
          <a:xfrm>
            <a:off x="9180576" y="416966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6" y="41148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6 expandable Developer Standards checklists (PR, Terraform, Security, Pipeline, etc.)</a:t>
            </a:r>
          </a:p>
        </p:txBody>
      </p:sp>
      <p:sp>
        <p:nvSpPr>
          <p:cNvPr id="53" name="Oval 52"/>
          <p:cNvSpPr/>
          <p:nvPr/>
        </p:nvSpPr>
        <p:spPr>
          <a:xfrm>
            <a:off x="9180576" y="5038344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3456" y="49834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Repo Bootstrap: scaffold new repos from approved Zions templates instantly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59669"/>
                </a:solidFill>
                <a:latin typeface="Segoe UI"/>
              </a:defRPr>
            </a:pPr>
            <a:r>
              <a:t>This is a fully functional, live prototype built and deployed during the hackathon — not mockups or wireframes.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Architecture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Enterprise-grade architecture designed for scalability, maintainability, and incremental production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32918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57A8"/>
                </a:solidFill>
                <a:latin typeface="Segoe UI"/>
              </a:defRPr>
            </a:pPr>
            <a:r>
              <a:t>Frontend: Chrome/Edge Side Panel Extension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20824"/>
            <a:ext cx="73152" cy="7315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React 18 +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65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Type-safe component architecture with hooks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73152" cy="7315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50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Tailwind CSS 3.4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50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Utility-first styling, responsive side panel design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2788920"/>
            <a:ext cx="73152" cy="7315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34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Vite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7340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Fast builds (&lt;3s), hot module replacement for dev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172968"/>
            <a:ext cx="73152" cy="7315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18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Chrome Manifest 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Latest extension standard, side panel API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557016"/>
            <a:ext cx="73152" cy="7315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02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Lucide React Icons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502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Consistent, lightweight icon system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941064"/>
            <a:ext cx="73152" cy="7315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ReactMarkdown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886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Rich rendering of AI chat responses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325112"/>
            <a:ext cx="73152" cy="7315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LocalStorage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70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Chat history persistence and export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897880" y="2743200"/>
            <a:ext cx="502920" cy="365760"/>
          </a:xfrm>
          <a:prstGeom prst="rightArrow">
            <a:avLst/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92240" y="1371600"/>
            <a:ext cx="5303520" cy="329184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1371600"/>
            <a:ext cx="53035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66534"/>
                </a:solidFill>
                <a:latin typeface="Segoe UI"/>
              </a:defRPr>
            </a:pPr>
            <a:r>
              <a:t>Backend: FastAPI + RAG Pipeline</a:t>
            </a:r>
          </a:p>
        </p:txBody>
      </p:sp>
      <p:sp>
        <p:nvSpPr>
          <p:cNvPr id="35" name="Oval 34"/>
          <p:cNvSpPr/>
          <p:nvPr/>
        </p:nvSpPr>
        <p:spPr>
          <a:xfrm>
            <a:off x="6766560" y="2020824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Python FastAPI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Async REST API with auto-generated Swagger docs</a:t>
            </a:r>
          </a:p>
        </p:txBody>
      </p:sp>
      <p:sp>
        <p:nvSpPr>
          <p:cNvPr id="38" name="Oval 37"/>
          <p:cNvSpPr/>
          <p:nvPr/>
        </p:nvSpPr>
        <p:spPr>
          <a:xfrm>
            <a:off x="6766560" y="2404872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2350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LangChain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2350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Document loading, chunking, retrieval chains</a:t>
            </a:r>
          </a:p>
        </p:txBody>
      </p:sp>
      <p:sp>
        <p:nvSpPr>
          <p:cNvPr id="41" name="Oval 40"/>
          <p:cNvSpPr/>
          <p:nvPr/>
        </p:nvSpPr>
        <p:spPr>
          <a:xfrm>
            <a:off x="6766560" y="2788920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2734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ChromaDB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27340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Embedded vector store for semantic search</a:t>
            </a:r>
          </a:p>
        </p:txBody>
      </p:sp>
      <p:sp>
        <p:nvSpPr>
          <p:cNvPr id="44" name="Oval 43"/>
          <p:cNvSpPr/>
          <p:nvPr/>
        </p:nvSpPr>
        <p:spPr>
          <a:xfrm>
            <a:off x="6766560" y="3172968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118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OpenAI GPT-4o-mini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1181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Cost-effective LLM for chat and code review</a:t>
            </a:r>
          </a:p>
        </p:txBody>
      </p:sp>
      <p:sp>
        <p:nvSpPr>
          <p:cNvPr id="47" name="Oval 46"/>
          <p:cNvSpPr/>
          <p:nvPr/>
        </p:nvSpPr>
        <p:spPr>
          <a:xfrm>
            <a:off x="6766560" y="3557016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502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text-embedding-3-small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3502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Efficient embeddings for document vectors</a:t>
            </a:r>
          </a:p>
        </p:txBody>
      </p:sp>
      <p:sp>
        <p:nvSpPr>
          <p:cNvPr id="50" name="Oval 49"/>
          <p:cNvSpPr/>
          <p:nvPr/>
        </p:nvSpPr>
        <p:spPr>
          <a:xfrm>
            <a:off x="6766560" y="3941064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Confluence Connector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3886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Ready for live API integration (REST)</a:t>
            </a:r>
          </a:p>
        </p:txBody>
      </p:sp>
      <p:sp>
        <p:nvSpPr>
          <p:cNvPr id="53" name="Oval 52"/>
          <p:cNvSpPr/>
          <p:nvPr/>
        </p:nvSpPr>
        <p:spPr>
          <a:xfrm>
            <a:off x="6766560" y="4325112"/>
            <a:ext cx="73152" cy="7315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5 Knowledge Base Docs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42702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GCP IAM, Terraform, ADO, ServiceNow, Security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846320"/>
            <a:ext cx="11338560" cy="164592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2D5F"/>
                </a:solidFill>
                <a:latin typeface="Segoe UI"/>
              </a:defRPr>
            </a:pPr>
            <a:r>
              <a:t>Key Architectural Decisions</a:t>
            </a:r>
          </a:p>
        </p:txBody>
      </p:sp>
      <p:sp>
        <p:nvSpPr>
          <p:cNvPr id="58" name="Oval 57"/>
          <p:cNvSpPr/>
          <p:nvPr/>
        </p:nvSpPr>
        <p:spPr>
          <a:xfrm>
            <a:off x="731520" y="5303520"/>
            <a:ext cx="64008" cy="64008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257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Modular tab architecture: each feature is an independent React component — easy to extend, test, and maintain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" y="5596128"/>
            <a:ext cx="64008" cy="64008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5504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RAG over fine-tuning: semantic search against curated docs ensures answers are grounded in real Zions documentation</a:t>
            </a:r>
          </a:p>
        </p:txBody>
      </p:sp>
      <p:sp>
        <p:nvSpPr>
          <p:cNvPr id="62" name="Oval 61"/>
          <p:cNvSpPr/>
          <p:nvPr/>
        </p:nvSpPr>
        <p:spPr>
          <a:xfrm>
            <a:off x="731520" y="5888736"/>
            <a:ext cx="64008" cy="64008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584301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Mock-first design: every external integration (ServiceNow, ADO, Confluence) has a mock fallback, enabling offline demos and incremental live integration</a:t>
            </a:r>
          </a:p>
        </p:txBody>
      </p:sp>
      <p:sp>
        <p:nvSpPr>
          <p:cNvPr id="64" name="Oval 63"/>
          <p:cNvSpPr/>
          <p:nvPr/>
        </p:nvSpPr>
        <p:spPr>
          <a:xfrm>
            <a:off x="731520" y="6181344"/>
            <a:ext cx="64008" cy="64008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613562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Side panel form factor: zero context-switching — the assistant lives beside the developer's existing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Live Demo: A Developer's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From error to resolution in under 2 minutes — without leaving the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15544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727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The Error</a:t>
            </a:r>
            <a:br/>
            <a:r>
              <a:t>Strikes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Terraform deploy fails with GCP 403 Forbidden.</a:t>
            </a:r>
            <a:br/>
            <a:br/>
            <a:r>
              <a:t>Normally: 30+ minutes hunting through Confluence and Slack.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5488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54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Before DevKick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78024" y="3017520"/>
            <a:ext cx="118872" cy="2286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6040" y="137160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83280" y="1554480"/>
            <a:ext cx="548640" cy="5486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5727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240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Ask DevKick</a:t>
            </a:r>
            <a:br/>
            <a:r>
              <a:t>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788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Open side panel → Chat tab. Ask the chatbot.</a:t>
            </a:r>
            <a:br/>
            <a:br/>
            <a:r>
              <a:t>RAG retrieves the exact IAM role and resolution steps.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475488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754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Chat Tab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18304" y="3017520"/>
            <a:ext cx="118872" cy="2286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46320" y="137160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23560" y="155448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15727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240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Create a</a:t>
            </a:r>
            <a:br/>
            <a:r>
              <a:t>ServiceNow Ticket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788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Need IAM access? Click Tickets tab.</a:t>
            </a:r>
            <a:br/>
            <a:br/>
            <a:r>
              <a:t>Fill out the form, get RITM number — never leave your browser.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475488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4754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Tickets Tab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58584" y="3017520"/>
            <a:ext cx="118872" cy="2286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86600" y="137160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63840" y="15544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5727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240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Escalate to</a:t>
            </a:r>
            <a:br/>
            <a:r>
              <a:t>Goalie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88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Pipeline still blocked? Hover any message, click "Escalate to Goalie."</a:t>
            </a:r>
            <a:br/>
            <a:br/>
            <a:r>
              <a:t>Auto-creates ticket with conversation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75488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4754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Chat → Tickets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198864" y="3017520"/>
            <a:ext cx="118872" cy="22860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26880" y="137160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04120" y="15544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15727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22402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172A"/>
                </a:solidFill>
                <a:latin typeface="Segoe UI"/>
              </a:defRPr>
            </a:pPr>
            <a:r>
              <a:t>Review a</a:t>
            </a:r>
            <a:br/>
            <a:r>
              <a:t>PR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7889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Teammate needs a review. One click — AI scans code against Zions security standards.</a:t>
            </a:r>
            <a:br/>
            <a:br/>
            <a:r>
              <a:t>Copy results to ADO.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46920" y="475488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20" y="4754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Review Tab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5440680"/>
            <a:ext cx="11430000" cy="1097280"/>
          </a:xfrm>
          <a:prstGeom prst="roundRect">
            <a:avLst>
              <a:gd name="adj" fmla="val 4000"/>
            </a:avLst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A3DA"/>
                </a:solidFill>
                <a:latin typeface="Segoe UI"/>
              </a:defRPr>
            </a:pPr>
            <a:r>
              <a:t>1-hour workflow → 2 minutes  |  5 tools → 1 side panel  |  Zero context-switching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94A3B8"/>
                </a:solidFill>
                <a:latin typeface="Segoe UI"/>
              </a:defRPr>
            </a:pPr>
            <a:r>
              <a:t>This is a live, working prototype — not a mockup. Every feature demonstrated is functional in Chrome/Edge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Business Value &amp; Return on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Realistic, measurable impact on developer productivity, risk reduction, and operational efficiency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06040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060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6A34A"/>
                </a:solidFill>
                <a:latin typeface="Segoe UI"/>
              </a:defRPr>
            </a:pPr>
            <a:r>
              <a:t>2+ hrs/day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Segoe UI"/>
              </a:defRPr>
            </a:pPr>
            <a:r>
              <a:t>Developer Time</a:t>
            </a:r>
            <a:br/>
            <a:r>
              <a:t>Saved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4748B"/>
                </a:solidFill>
                <a:latin typeface="Segoe UI"/>
              </a:defRPr>
            </a:pPr>
            <a:r>
              <a:t>per developer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280160"/>
            <a:ext cx="2606040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57A8"/>
                </a:solidFill>
                <a:latin typeface="Segoe UI"/>
              </a:defRPr>
            </a:pPr>
            <a:r>
              <a:t>$500K+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031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Segoe UI"/>
              </a:defRPr>
            </a:pPr>
            <a:r>
              <a:t>Annual</a:t>
            </a:r>
            <a:br/>
            <a:r>
              <a:t>Cost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97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4748B"/>
                </a:solidFill>
                <a:latin typeface="Segoe UI"/>
              </a:defRPr>
            </a:pPr>
            <a:r>
              <a:t>for 50-dev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017520"/>
            <a:ext cx="1874519" cy="32004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0175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Segoe UI"/>
              </a:defRPr>
            </a:pPr>
            <a:r>
              <a:t>50 devs × 2hr × 250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280160"/>
            <a:ext cx="2606040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280160"/>
            <a:ext cx="26060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7C3AED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1031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Segoe UI"/>
              </a:defRPr>
            </a:pPr>
            <a:r>
              <a:t>Faster Error</a:t>
            </a:r>
            <a:br/>
            <a:r>
              <a:t>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97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4748B"/>
                </a:solidFill>
                <a:latin typeface="Segoe UI"/>
              </a:defRPr>
            </a:pPr>
            <a:r>
              <a:t>30 min → 2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280160"/>
            <a:ext cx="2606040" cy="2194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1280160"/>
            <a:ext cx="26060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D97706"/>
                </a:solidFill>
                <a:latin typeface="Segoe UI"/>
              </a:defRPr>
            </a:pPr>
            <a:r>
              <a:t>5x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1031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Segoe UI"/>
              </a:defRPr>
            </a:pPr>
            <a:r>
              <a:t>Faster Ticket</a:t>
            </a:r>
            <a:br/>
            <a:r>
              <a:t>Creation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697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4748B"/>
                </a:solidFill>
                <a:latin typeface="Segoe UI"/>
              </a:defRPr>
            </a:pPr>
            <a:r>
              <a:t>15 min → 2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49039"/>
            <a:ext cx="11247120" cy="28346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2D5F"/>
                </a:solidFill>
                <a:latin typeface="Segoe UI"/>
              </a:defRPr>
            </a:pPr>
            <a:r>
              <a:t>Strategic Value Beyond Productivity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4251960"/>
            <a:ext cx="91440" cy="91440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57A8"/>
                </a:solidFill>
                <a:latin typeface="Segoe UI"/>
              </a:defRPr>
            </a:pPr>
            <a:r>
              <a:t>Risk Reduction &amp;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2062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Automated PR reviews enforce Zions security standards (CKV policies, CMEK encryption, IAM least privilege, network rules). Security issues caught at code review stage, not in production audit.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4818888"/>
            <a:ext cx="91440" cy="91440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7731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57A8"/>
                </a:solidFill>
                <a:latin typeface="Segoe UI"/>
              </a:defRPr>
            </a:pPr>
            <a:r>
              <a:t>Knowledge Retention &amp; Onboarding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773168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RAG pipeline captures institutional knowledge in a searchable vector store. New developers get instant answers instead of waiting for SME availability. Reduces dependency on tribal knowledge.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5385816"/>
            <a:ext cx="91440" cy="91440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3400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57A8"/>
                </a:solidFill>
                <a:latin typeface="Segoe UI"/>
              </a:defRPr>
            </a:pPr>
            <a:r>
              <a:t>Developer Experience &amp; Retention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340096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Unified interface reduces cognitive load and tool fatigue. Developers stay in flow state longer. Better DX correlates directly with retention — reducing turnover costs of $150K+ per engineer.</a:t>
            </a:r>
          </a:p>
        </p:txBody>
      </p:sp>
      <p:sp>
        <p:nvSpPr>
          <p:cNvPr id="40" name="Oval 39"/>
          <p:cNvSpPr/>
          <p:nvPr/>
        </p:nvSpPr>
        <p:spPr>
          <a:xfrm>
            <a:off x="731520" y="5952744"/>
            <a:ext cx="91440" cy="91440"/>
          </a:xfrm>
          <a:prstGeom prst="ellipse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9070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57A8"/>
                </a:solidFill>
                <a:latin typeface="Segoe UI"/>
              </a:defRPr>
            </a:pPr>
            <a:r>
              <a:t>Enterprise Scalability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90702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Architecture supports live Confluence, ServiceNow, and ADO integrations. Custom knowledge bases per team. Multi-tenant ready. Path from prototype to production is incremental — no rewrite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Innovation &amp;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Leveraging cutting-edge AI, modern web technologies, and enterprise-aware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4864" cy="1097280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RAG-Powered Knowledge Base (LangChain + ChromaDB)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Unlike generic chatbots, DevKick uses Retrieval-Augmented Generation to ground every answer in real Zions documentation. Semantic search understands developer intent, not just keywords. The knowledge base is extensible — add Confluence pages, URLs, or custom documents at runtime.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21408"/>
            <a:ext cx="45720" cy="201168"/>
          </a:xfrm>
          <a:prstGeom prst="rect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2140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0057A8"/>
                </a:solidFill>
                <a:latin typeface="Segoe UI"/>
              </a:defRPr>
            </a:pPr>
            <a:r>
              <a:t>"Wow" factor: Real-time document upload and indexing — upload a URL and query it immediately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54864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Browser-Native Side Panel (Chrome Manifest V3)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The extension lives in the browser's side panel — always accessible, never in the way. This is a fundamentally new UX pattern: the assistant sits beside the developer's work. No new tools to install, no new windows to manage, no login 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47288"/>
            <a:ext cx="45720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472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7C3AED"/>
                </a:solidFill>
                <a:latin typeface="Segoe UI"/>
              </a:defRPr>
            </a:pPr>
            <a:r>
              <a:t>"Wow" factor: Zero-install deployment for end users — just load the extension and 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4864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AI Security Code Review Against Zions 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One-click PR analysis checks Terraform code against Zions-specific security policies: CKV_GCP_24 (encryption), CKV_GCP_38 (no public IPs), CKV_GCP_2 (firewalls), CKV_GCP_11 (VPC flow logs). Returns structured results with severity, fixes, and an overall quality score.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73168"/>
            <a:ext cx="457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7316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16A34A"/>
                </a:solidFill>
                <a:latin typeface="Segoe UI"/>
              </a:defRPr>
            </a:pPr>
            <a:r>
              <a:t>"Wow" factor: Copy-paste the AI review directly into ADO PR comments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57800"/>
            <a:ext cx="54864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Cross-Tool Workflow Integration (Chat → Escalate → Goalie Queue)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The real innovation is seamless flow between features. A developer troubleshoots in Chat, escalates to Goalie with one click (auto-fills context), tracks in the Queue — all in one panel. This is a connected workflow, not 4 separate tools.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6099048"/>
            <a:ext cx="45720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609904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D97706"/>
                </a:solidFill>
                <a:latin typeface="Segoe UI"/>
              </a:defRPr>
            </a:pPr>
            <a:r>
              <a:t>"Wow" factor: Conversation context automatically populates ServiceNow ticket description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400800"/>
            <a:ext cx="11247120" cy="320040"/>
          </a:xfrm>
          <a:prstGeom prst="roundRect">
            <a:avLst>
              <a:gd name="adj" fmla="val 4000"/>
            </a:avLst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React 18  |  TypeScript  |  Tailwind CSS  |  Vite 6  |  FastAPI  |  LangChain  |  ChromaDB  |  OpenAI GPT-4o-mini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Functional Solution: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A working, tangible prototype — not mockups or wireframes. Every feature is deployable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94960" cy="50292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94960" cy="50292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LIVE &amp; FUNCTIONAL TODAY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97510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Chrome/Edge Side Panel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Fully functional in any Chromium browser — Manifest V3, side panel API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50592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AI Chat with RAG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95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Real LLM + real vector store + real document retrieval — not hardcoded responses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926080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71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ChromaDB 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8712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Real embeddings, real semantic search, real document chunking via LangChain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01568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46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AI-Powered PR Code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3467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Real LLM analysis against real Zions security standards — structured results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87705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22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ServiceNow Ticket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8221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6 ticket types with Goalie escalation, queue dashboard, and recent history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35254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97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Goalie Escalation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Chat → one-click escalate → auto-filled ticket → Goalie Queue tracking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828032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773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Developer Standards &amp; Quick Links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773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Real content: 12 quick links, 6 checklists, notifications, repo bootstrap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303520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486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Confluence Connector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2486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Real REST API integration — works live when credentials are provided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5779008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724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Document Upload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7241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Upload text or URLs to expand the knowledge base at runtime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1280160"/>
            <a:ext cx="5394960" cy="50292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35040" y="1280160"/>
            <a:ext cx="5394960" cy="502920"/>
          </a:xfrm>
          <a:prstGeom prst="roundRect">
            <a:avLst>
              <a:gd name="adj" fmla="val 3000"/>
            </a:avLst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2984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PRODUCTION-READY ARCHITECTURE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197510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ServiceNow API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Mock layer designed for direct swap to live ServiceNow REST API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2450592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23957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ADO PR Diff Parsing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2395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Hardcoded demo snippet — swap for ADO/GitHub API to fetch real diffs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2926080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871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Repo Bootstrap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28712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Simulated creation — ready to connect to ADO REST API for real repo scaffolding</a:t>
            </a:r>
          </a:p>
        </p:txBody>
      </p:sp>
      <p:sp>
        <p:nvSpPr>
          <p:cNvPr id="49" name="Oval 48"/>
          <p:cNvSpPr/>
          <p:nvPr/>
        </p:nvSpPr>
        <p:spPr>
          <a:xfrm>
            <a:off x="6217920" y="3401568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346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Notification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33467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Static reminders — designed for ADO work item and calendar API integration</a:t>
            </a:r>
          </a:p>
        </p:txBody>
      </p:sp>
      <p:sp>
        <p:nvSpPr>
          <p:cNvPr id="52" name="Oval 51"/>
          <p:cNvSpPr/>
          <p:nvPr/>
        </p:nvSpPr>
        <p:spPr>
          <a:xfrm>
            <a:off x="6217920" y="3877056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822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Multi-Model Support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8221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Works with OpenAI, Gemini (drop-in), or any OpenAI-compatible API</a:t>
            </a:r>
          </a:p>
        </p:txBody>
      </p:sp>
      <p:sp>
        <p:nvSpPr>
          <p:cNvPr id="55" name="Oval 54"/>
          <p:cNvSpPr/>
          <p:nvPr/>
        </p:nvSpPr>
        <p:spPr>
          <a:xfrm>
            <a:off x="6217920" y="435254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297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Environment Config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.env-based config for API keys, base URLs, model selection — enterprise ready</a:t>
            </a:r>
          </a:p>
        </p:txBody>
      </p:sp>
      <p:sp>
        <p:nvSpPr>
          <p:cNvPr id="58" name="Oval 57"/>
          <p:cNvSpPr/>
          <p:nvPr/>
        </p:nvSpPr>
        <p:spPr>
          <a:xfrm>
            <a:off x="6217920" y="4828032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47731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CORS &amp; Security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4773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FastAPI CORS middleware configured — ready for domain-specific restrictions</a:t>
            </a:r>
          </a:p>
        </p:txBody>
      </p:sp>
      <p:sp>
        <p:nvSpPr>
          <p:cNvPr id="61" name="Oval 60"/>
          <p:cNvSpPr/>
          <p:nvPr/>
        </p:nvSpPr>
        <p:spPr>
          <a:xfrm>
            <a:off x="6217920" y="5303520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2486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API Documentation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52486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Auto-generated Swagger/OpenAPI docs at /docs endpoint</a:t>
            </a:r>
          </a:p>
        </p:txBody>
      </p:sp>
      <p:sp>
        <p:nvSpPr>
          <p:cNvPr id="64" name="Oval 63"/>
          <p:cNvSpPr/>
          <p:nvPr/>
        </p:nvSpPr>
        <p:spPr>
          <a:xfrm>
            <a:off x="6217920" y="5779008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57241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Segoe UI"/>
              </a:defRPr>
            </a:pPr>
            <a:r>
              <a:t>Health Monitoring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57241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75569"/>
                </a:solidFill>
                <a:latin typeface="Segoe UI"/>
              </a:defRPr>
            </a:pPr>
            <a:r>
              <a:t>Health check endpoint and knowledge base status API for ops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Key takeaways from building a developer tool during the hackathon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07592"/>
            <a:ext cx="347472" cy="34747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Start with the Pain Point, Not the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819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We interviewed developers about their biggest daily frustrations before writing code. The 4-tab structure emerged directly from the 4 most common complaints. Technology decisions followed from requirements, not the other way around.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99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0057A8"/>
                </a:solidFill>
                <a:latin typeface="Segoe UI"/>
              </a:defRPr>
            </a:pPr>
            <a:r>
              <a:t>Key Takeaway: User research, even informal, produces better architecture than technology-first thinking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86584"/>
            <a:ext cx="347472" cy="34747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59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RAG Quality is Only as Good as Document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The chatbot is only as good as the knowledge base behind it. We spent significant time curating and structuring the 5 knowledge base documents to mirror real Confluence pages with specific role names, project IDs, and resolution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089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0057A8"/>
                </a:solidFill>
                <a:latin typeface="Segoe UI"/>
              </a:defRPr>
            </a:pPr>
            <a:r>
              <a:t>Key Takeaway: Invest in content curation — it has higher ROI than model tuning for enterprise RAG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65576"/>
            <a:ext cx="347472" cy="34747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655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381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Side Panel UX Requires Mobile-First Thinking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398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A side panel has ~350px width. We redesigned the UI multiple times to be information-dense without clutter. Mobile-first design principles and constraints actually forced better decisions: every pixel must earn its place.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879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0057A8"/>
                </a:solidFill>
                <a:latin typeface="Segoe UI"/>
              </a:defRPr>
            </a:pPr>
            <a:r>
              <a:t>Key Takeaway: Constraints drive creativity — the narrow form factor led to a more focused, usable product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544568"/>
            <a:ext cx="347472" cy="34747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44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5171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Integration Beats Isolation — Workflows, Not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188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The real value is not in any single tab — it is in the seamless flow between them. Chat → Escalation → Goalie Queue is one connected journey. Users want workflows, not a collection of separate tools.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6694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0057A8"/>
                </a:solidFill>
                <a:latin typeface="Segoe UI"/>
              </a:defRPr>
            </a:pPr>
            <a:r>
              <a:t>Key Takeaway: Design for user journeys across features, not individual feature functionality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623560"/>
            <a:ext cx="347472" cy="347472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596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Build for Production from Day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Segoe UI"/>
              </a:defRPr>
            </a:pPr>
            <a:r>
              <a:t>Even as a hackathon prototype, we used real APIs, real vector stores, and a real extension manifest. Mock layers are designed as swap-in replacements. The path from demo to production is incremental, not a rewrite.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34593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0057A8"/>
                </a:solidFill>
                <a:latin typeface="Segoe UI"/>
              </a:defRPr>
            </a:pPr>
            <a:r>
              <a:t>Key Takeaway: Prototype architecture should mirror production architecture — just with mock data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2D5F"/>
                </a:solidFill>
                <a:latin typeface="Segoe UI"/>
              </a:defRPr>
            </a:pPr>
            <a:r>
              <a:t>Roadmap: Path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475569"/>
                </a:solidFill>
                <a:latin typeface="Segoe UI"/>
              </a:defRPr>
            </a:pPr>
            <a:r>
              <a:t>Incremental deployment strategy — swap mocks for live APIs with zero architectural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3474720" cy="59436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Phase 1: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01168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6A34A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56946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Working Chrome/Edge extension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07238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Real RAG pipeline (LangChain + ChromaDB)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57530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Real LLM chat and code 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07822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ServiceNow ticket UI with Goalie flow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458114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Developer standards and quick links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508406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Full API with Swagger docs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913632" y="3291840"/>
            <a:ext cx="173736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0" y="128016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0" y="1280160"/>
            <a:ext cx="3474720" cy="594360"/>
          </a:xfrm>
          <a:prstGeom prst="roundRect">
            <a:avLst>
              <a:gd name="adj" fmla="val 4000"/>
            </a:avLst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Phase 2: Next Quarter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01168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057A8"/>
                </a:solidFill>
                <a:latin typeface="Segoe UI"/>
              </a:defRPr>
            </a:pPr>
            <a:r>
              <a:t>READY TO BUILD</a:t>
            </a:r>
          </a:p>
        </p:txBody>
      </p:sp>
      <p:sp>
        <p:nvSpPr>
          <p:cNvPr id="30" name="Oval 29"/>
          <p:cNvSpPr/>
          <p:nvPr/>
        </p:nvSpPr>
        <p:spPr>
          <a:xfrm>
            <a:off x="4297680" y="256946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Live Confluence sync (connector built)</a:t>
            </a:r>
          </a:p>
        </p:txBody>
      </p:sp>
      <p:sp>
        <p:nvSpPr>
          <p:cNvPr id="32" name="Oval 31"/>
          <p:cNvSpPr/>
          <p:nvPr/>
        </p:nvSpPr>
        <p:spPr>
          <a:xfrm>
            <a:off x="4297680" y="307238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Live ServiceNow ticket creation via API</a:t>
            </a:r>
          </a:p>
        </p:txBody>
      </p:sp>
      <p:sp>
        <p:nvSpPr>
          <p:cNvPr id="34" name="Oval 33"/>
          <p:cNvSpPr/>
          <p:nvPr/>
        </p:nvSpPr>
        <p:spPr>
          <a:xfrm>
            <a:off x="4297680" y="357530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ADO PR diff parsing via REST API</a:t>
            </a:r>
          </a:p>
        </p:txBody>
      </p:sp>
      <p:sp>
        <p:nvSpPr>
          <p:cNvPr id="36" name="Oval 35"/>
          <p:cNvSpPr/>
          <p:nvPr/>
        </p:nvSpPr>
        <p:spPr>
          <a:xfrm>
            <a:off x="4297680" y="407822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Team pilot with 10-20 developers</a:t>
            </a:r>
          </a:p>
        </p:txBody>
      </p:sp>
      <p:sp>
        <p:nvSpPr>
          <p:cNvPr id="38" name="Oval 37"/>
          <p:cNvSpPr/>
          <p:nvPr/>
        </p:nvSpPr>
        <p:spPr>
          <a:xfrm>
            <a:off x="4297680" y="458114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Usage analytics and feedback loop</a:t>
            </a:r>
          </a:p>
        </p:txBody>
      </p:sp>
      <p:sp>
        <p:nvSpPr>
          <p:cNvPr id="40" name="Oval 39"/>
          <p:cNvSpPr/>
          <p:nvPr/>
        </p:nvSpPr>
        <p:spPr>
          <a:xfrm>
            <a:off x="4297680" y="5084064"/>
            <a:ext cx="91440" cy="91440"/>
          </a:xfrm>
          <a:prstGeom prst="ellipse">
            <a:avLst/>
          </a:prstGeom>
          <a:solidFill>
            <a:srgbClr val="00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SSO/LDAP authentication integration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616952" y="3291840"/>
            <a:ext cx="173736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818120" y="128016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18120" y="1280160"/>
            <a:ext cx="3474720" cy="59436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Phase 3: Future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20" y="201168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C3AED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48" name="Oval 47"/>
          <p:cNvSpPr/>
          <p:nvPr/>
        </p:nvSpPr>
        <p:spPr>
          <a:xfrm>
            <a:off x="8001000" y="256946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8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ADO pipeline status dashboard</a:t>
            </a:r>
          </a:p>
        </p:txBody>
      </p:sp>
      <p:sp>
        <p:nvSpPr>
          <p:cNvPr id="50" name="Oval 49"/>
          <p:cNvSpPr/>
          <p:nvPr/>
        </p:nvSpPr>
        <p:spPr>
          <a:xfrm>
            <a:off x="8001000" y="307238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Slack/Teams notifications</a:t>
            </a:r>
          </a:p>
        </p:txBody>
      </p:sp>
      <p:sp>
        <p:nvSpPr>
          <p:cNvPr id="52" name="Oval 51"/>
          <p:cNvSpPr/>
          <p:nvPr/>
        </p:nvSpPr>
        <p:spPr>
          <a:xfrm>
            <a:off x="8001000" y="357530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Custom knowledge bases per team</a:t>
            </a:r>
          </a:p>
        </p:txBody>
      </p:sp>
      <p:sp>
        <p:nvSpPr>
          <p:cNvPr id="54" name="Oval 53"/>
          <p:cNvSpPr/>
          <p:nvPr/>
        </p:nvSpPr>
        <p:spPr>
          <a:xfrm>
            <a:off x="8001000" y="407822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388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Multi-tenant support</a:t>
            </a:r>
          </a:p>
        </p:txBody>
      </p:sp>
      <p:sp>
        <p:nvSpPr>
          <p:cNvPr id="56" name="Oval 55"/>
          <p:cNvSpPr/>
          <p:nvPr/>
        </p:nvSpPr>
        <p:spPr>
          <a:xfrm>
            <a:off x="8001000" y="458114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8388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On-prem LLM option (Ollama)</a:t>
            </a:r>
          </a:p>
        </p:txBody>
      </p:sp>
      <p:sp>
        <p:nvSpPr>
          <p:cNvPr id="58" name="Oval 57"/>
          <p:cNvSpPr/>
          <p:nvPr/>
        </p:nvSpPr>
        <p:spPr>
          <a:xfrm>
            <a:off x="8001000" y="508406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Segoe UI"/>
              </a:defRPr>
            </a:pPr>
            <a:r>
              <a:t>Enterprise rollout (200+ devs)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1480" y="6035040"/>
            <a:ext cx="11338560" cy="548640"/>
          </a:xfrm>
          <a:prstGeom prst="roundRect">
            <a:avLst>
              <a:gd name="adj" fmla="val 3000"/>
            </a:avLst>
          </a:prstGeom>
          <a:solidFill>
            <a:srgbClr val="00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05332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Architecture designed for additive deployment: live integrations replace mock functions with zero UI or API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914400"/>
            <a:ext cx="1371600" cy="1371600"/>
          </a:xfrm>
          <a:prstGeom prst="roundRect">
            <a:avLst>
              <a:gd name="adj" fmla="val 15000"/>
            </a:avLst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00584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Zions DevKick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00A3DA"/>
                </a:solidFill>
                <a:latin typeface="Segoe UI"/>
              </a:defRPr>
            </a:pPr>
            <a:r>
              <a:t>From a 1-hour context-switching nightmare</a:t>
            </a:r>
            <a:br/>
            <a:r>
              <a:t>to a 2-minute seamless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A3DA"/>
                </a:solidFill>
                <a:latin typeface="Segoe UI"/>
              </a:defRPr>
            </a:pPr>
            <a:r>
              <a:t>4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  <a:latin typeface="Segoe UI"/>
              </a:defRPr>
            </a:pPr>
            <a:r>
              <a:t>4 Bottlenecks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A3DA"/>
                </a:solidFill>
                <a:latin typeface="Segoe UI"/>
              </a:defRPr>
            </a:pPr>
            <a:r>
              <a:t>2+ hrs/day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  <a:latin typeface="Segoe UI"/>
              </a:defRPr>
            </a:pPr>
            <a:r>
              <a:t>Developer Time Recovered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A3DA"/>
                </a:solidFill>
                <a:latin typeface="Segoe UI"/>
              </a:defRPr>
            </a:pPr>
            <a:r>
              <a:t>1 Side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4A3B8"/>
                </a:solidFill>
                <a:latin typeface="Segoe UI"/>
              </a:defRPr>
            </a:pPr>
            <a:r>
              <a:t>Zero Context-Switching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937760"/>
            <a:ext cx="3017520" cy="18288"/>
          </a:xfrm>
          <a:prstGeom prst="rect">
            <a:avLst/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94A3B8"/>
                </a:solidFill>
                <a:latin typeface="Segoe UI"/>
              </a:defRPr>
            </a:pPr>
            <a:r>
              <a:t>Abhinav Akey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ETO Innovation Hackathon  |  May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